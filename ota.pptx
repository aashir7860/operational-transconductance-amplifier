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76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4" r:id="rId23"/>
    <p:sldId id="271" r:id="rId24"/>
    <p:sldId id="273" r:id="rId25"/>
    <p:sldId id="272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8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47620F-4390-40A1-9BA9-034EF09F9001}" type="doc">
      <dgm:prSet loTypeId="urn:microsoft.com/office/officeart/2008/layout/LinedList" loCatId="list" qsTypeId="urn:microsoft.com/office/officeart/2005/8/quickstyle/simple1#12" qsCatId="simple" csTypeId="urn:microsoft.com/office/officeart/2005/8/colors/accent3_2#8" csCatId="accent3"/>
      <dgm:spPr/>
      <dgm:t>
        <a:bodyPr/>
        <a:lstStyle/>
        <a:p>
          <a:endParaRPr lang="en-US"/>
        </a:p>
      </dgm:t>
    </dgm:pt>
    <dgm:pt modelId="{846BD0DC-A98A-43F3-A3CF-7B9A74B8A0CB}">
      <dgm:prSet/>
      <dgm:spPr/>
      <dgm:t>
        <a:bodyPr/>
        <a:lstStyle/>
        <a:p>
          <a:r>
            <a:rPr lang="en-US" b="1"/>
            <a:t>Floor plans:</a:t>
          </a:r>
          <a:endParaRPr lang="en-US"/>
        </a:p>
      </dgm:t>
    </dgm:pt>
    <dgm:pt modelId="{53443F3D-4444-43A1-82C3-56A0B30709F9}" type="parTrans" cxnId="{1F472BAB-39DA-486C-93DA-FD917D9447AC}">
      <dgm:prSet/>
      <dgm:spPr/>
      <dgm:t>
        <a:bodyPr/>
        <a:lstStyle/>
        <a:p>
          <a:endParaRPr lang="en-US"/>
        </a:p>
      </dgm:t>
    </dgm:pt>
    <dgm:pt modelId="{449B5C39-61DD-4B6D-BC5D-C62DA191E924}" type="sibTrans" cxnId="{1F472BAB-39DA-486C-93DA-FD917D9447AC}">
      <dgm:prSet/>
      <dgm:spPr/>
      <dgm:t>
        <a:bodyPr/>
        <a:lstStyle/>
        <a:p>
          <a:endParaRPr lang="en-US"/>
        </a:p>
      </dgm:t>
    </dgm:pt>
    <dgm:pt modelId="{27B34AD0-3B35-4208-84E7-5DE0E7E5AA11}">
      <dgm:prSet/>
      <dgm:spPr/>
      <dgm:t>
        <a:bodyPr/>
        <a:lstStyle/>
        <a:p>
          <a:r>
            <a:rPr lang="en-US" b="0"/>
            <a:t>Placed in symmetrical manner </a:t>
          </a:r>
          <a:endParaRPr lang="en-US"/>
        </a:p>
      </dgm:t>
    </dgm:pt>
    <dgm:pt modelId="{318B898F-E8E7-4F56-95C0-05BE2582D830}" type="parTrans" cxnId="{AB5AD377-5741-4303-82F4-C56964967BB9}">
      <dgm:prSet/>
      <dgm:spPr/>
      <dgm:t>
        <a:bodyPr/>
        <a:lstStyle/>
        <a:p>
          <a:endParaRPr lang="en-US"/>
        </a:p>
      </dgm:t>
    </dgm:pt>
    <dgm:pt modelId="{CFB8DFCF-F099-409C-8E93-49299BF6E84A}" type="sibTrans" cxnId="{AB5AD377-5741-4303-82F4-C56964967BB9}">
      <dgm:prSet/>
      <dgm:spPr/>
      <dgm:t>
        <a:bodyPr/>
        <a:lstStyle/>
        <a:p>
          <a:endParaRPr lang="en-US"/>
        </a:p>
      </dgm:t>
    </dgm:pt>
    <dgm:pt modelId="{46C21183-FF17-4A44-A2B9-DD2BE66E6C88}">
      <dgm:prSet/>
      <dgm:spPr/>
      <dgm:t>
        <a:bodyPr/>
        <a:lstStyle/>
        <a:p>
          <a:r>
            <a:rPr lang="en-US" b="0"/>
            <a:t>Each transistor exposed to similar environment </a:t>
          </a:r>
          <a:endParaRPr lang="en-US"/>
        </a:p>
      </dgm:t>
    </dgm:pt>
    <dgm:pt modelId="{1E094850-3746-49C8-B9C4-56F41FBBC9BB}" type="parTrans" cxnId="{1B420EE7-9115-4733-BEF0-5F68FE2AEE78}">
      <dgm:prSet/>
      <dgm:spPr/>
      <dgm:t>
        <a:bodyPr/>
        <a:lstStyle/>
        <a:p>
          <a:endParaRPr lang="en-US"/>
        </a:p>
      </dgm:t>
    </dgm:pt>
    <dgm:pt modelId="{8F539510-044D-4BC0-BE55-6ECD5A56F34A}" type="sibTrans" cxnId="{1B420EE7-9115-4733-BEF0-5F68FE2AEE78}">
      <dgm:prSet/>
      <dgm:spPr/>
      <dgm:t>
        <a:bodyPr/>
        <a:lstStyle/>
        <a:p>
          <a:endParaRPr lang="en-US"/>
        </a:p>
      </dgm:t>
    </dgm:pt>
    <dgm:pt modelId="{FC676A36-7BA7-4749-AEF7-AC86DC1D5FEC}">
      <dgm:prSet/>
      <dgm:spPr/>
      <dgm:t>
        <a:bodyPr/>
        <a:lstStyle/>
        <a:p>
          <a:r>
            <a:rPr lang="en-US" b="0"/>
            <a:t>Symmetrical changes in properties (Vth,Vgs etc)</a:t>
          </a:r>
          <a:endParaRPr lang="en-US"/>
        </a:p>
      </dgm:t>
    </dgm:pt>
    <dgm:pt modelId="{9F14F085-42DB-4563-AED9-615BD84550D5}" type="parTrans" cxnId="{6EF14B3A-AEA1-45F9-A7A9-CC616DC064F8}">
      <dgm:prSet/>
      <dgm:spPr/>
      <dgm:t>
        <a:bodyPr/>
        <a:lstStyle/>
        <a:p>
          <a:endParaRPr lang="en-US"/>
        </a:p>
      </dgm:t>
    </dgm:pt>
    <dgm:pt modelId="{92D61DFC-C1BC-4B33-91B6-AAD4677B4CD0}" type="sibTrans" cxnId="{6EF14B3A-AEA1-45F9-A7A9-CC616DC064F8}">
      <dgm:prSet/>
      <dgm:spPr/>
      <dgm:t>
        <a:bodyPr/>
        <a:lstStyle/>
        <a:p>
          <a:endParaRPr lang="en-US"/>
        </a:p>
      </dgm:t>
    </dgm:pt>
    <dgm:pt modelId="{FC3B01DA-0075-4280-BE78-FA79E8253CAE}">
      <dgm:prSet/>
      <dgm:spPr/>
      <dgm:t>
        <a:bodyPr/>
        <a:lstStyle/>
        <a:p>
          <a:r>
            <a:rPr lang="en-US" b="0"/>
            <a:t>D D D D</a:t>
          </a:r>
          <a:endParaRPr lang="en-US"/>
        </a:p>
      </dgm:t>
    </dgm:pt>
    <dgm:pt modelId="{E4C8BD8F-70A1-4A1C-A406-CB308EDA3E8B}" type="parTrans" cxnId="{DECC4C1E-5CFF-411F-B416-9BFC398EC0BA}">
      <dgm:prSet/>
      <dgm:spPr/>
      <dgm:t>
        <a:bodyPr/>
        <a:lstStyle/>
        <a:p>
          <a:endParaRPr lang="en-US"/>
        </a:p>
      </dgm:t>
    </dgm:pt>
    <dgm:pt modelId="{0CA422D8-9FC0-40F4-9EE6-B7DA379E5D63}" type="sibTrans" cxnId="{DECC4C1E-5CFF-411F-B416-9BFC398EC0BA}">
      <dgm:prSet/>
      <dgm:spPr/>
      <dgm:t>
        <a:bodyPr/>
        <a:lstStyle/>
        <a:p>
          <a:endParaRPr lang="en-US"/>
        </a:p>
      </dgm:t>
    </dgm:pt>
    <dgm:pt modelId="{CD1984BF-76AC-4200-8FE2-0BAB2C70ADD2}">
      <dgm:prSet/>
      <dgm:spPr/>
      <dgm:t>
        <a:bodyPr/>
        <a:lstStyle/>
        <a:p>
          <a:r>
            <a:rPr lang="en-US" b="0"/>
            <a:t>D </a:t>
          </a:r>
          <a:r>
            <a:rPr lang="en-US" b="1"/>
            <a:t>A B</a:t>
          </a:r>
          <a:r>
            <a:rPr lang="en-US" b="0"/>
            <a:t> D          For </a:t>
          </a:r>
          <a:r>
            <a:rPr lang="en-US" b="1"/>
            <a:t>PMOS</a:t>
          </a:r>
          <a:r>
            <a:rPr lang="en-US" b="0"/>
            <a:t> current source load </a:t>
          </a:r>
          <a:endParaRPr lang="en-US"/>
        </a:p>
      </dgm:t>
    </dgm:pt>
    <dgm:pt modelId="{7377A42C-5C89-4931-8D04-A53562B69890}" type="parTrans" cxnId="{1E0D2C3A-B0FB-49CD-9027-31443FD9219D}">
      <dgm:prSet/>
      <dgm:spPr/>
      <dgm:t>
        <a:bodyPr/>
        <a:lstStyle/>
        <a:p>
          <a:endParaRPr lang="en-US"/>
        </a:p>
      </dgm:t>
    </dgm:pt>
    <dgm:pt modelId="{A25B556F-B833-496C-B523-29EAD7A7B6F6}" type="sibTrans" cxnId="{1E0D2C3A-B0FB-49CD-9027-31443FD9219D}">
      <dgm:prSet/>
      <dgm:spPr/>
      <dgm:t>
        <a:bodyPr/>
        <a:lstStyle/>
        <a:p>
          <a:endParaRPr lang="en-US"/>
        </a:p>
      </dgm:t>
    </dgm:pt>
    <dgm:pt modelId="{F8082AF1-0517-4874-BE18-8CA0883D53DB}">
      <dgm:prSet/>
      <dgm:spPr/>
      <dgm:t>
        <a:bodyPr/>
        <a:lstStyle/>
        <a:p>
          <a:r>
            <a:rPr lang="en-US" b="0"/>
            <a:t>D D D D</a:t>
          </a:r>
          <a:endParaRPr lang="en-US"/>
        </a:p>
      </dgm:t>
    </dgm:pt>
    <dgm:pt modelId="{8A2A75F7-BB13-4158-B8D4-066C98F536A8}" type="parTrans" cxnId="{09C43D9F-71CD-4A59-B38C-40D9618D0071}">
      <dgm:prSet/>
      <dgm:spPr/>
      <dgm:t>
        <a:bodyPr/>
        <a:lstStyle/>
        <a:p>
          <a:endParaRPr lang="en-US"/>
        </a:p>
      </dgm:t>
    </dgm:pt>
    <dgm:pt modelId="{0162FBF0-653A-46B5-B7C8-826546EA932C}" type="sibTrans" cxnId="{09C43D9F-71CD-4A59-B38C-40D9618D0071}">
      <dgm:prSet/>
      <dgm:spPr/>
      <dgm:t>
        <a:bodyPr/>
        <a:lstStyle/>
        <a:p>
          <a:endParaRPr lang="en-US"/>
        </a:p>
      </dgm:t>
    </dgm:pt>
    <dgm:pt modelId="{D6815583-57EB-46C6-98AF-7EF9C0E07623}">
      <dgm:prSet/>
      <dgm:spPr/>
      <dgm:t>
        <a:bodyPr/>
        <a:lstStyle/>
        <a:p>
          <a:r>
            <a:rPr lang="en-US" b="0"/>
            <a:t>D D D D D D D D D D</a:t>
          </a:r>
          <a:endParaRPr lang="en-US"/>
        </a:p>
      </dgm:t>
    </dgm:pt>
    <dgm:pt modelId="{867B55D6-176C-48E1-B7DF-8F2B7A7FFEF8}" type="parTrans" cxnId="{7D237EA1-75C4-4296-853D-FA958183D3E9}">
      <dgm:prSet/>
      <dgm:spPr/>
      <dgm:t>
        <a:bodyPr/>
        <a:lstStyle/>
        <a:p>
          <a:endParaRPr lang="en-US"/>
        </a:p>
      </dgm:t>
    </dgm:pt>
    <dgm:pt modelId="{50D6696F-9D41-4FBF-BC0C-B6D9DB7C1989}" type="sibTrans" cxnId="{7D237EA1-75C4-4296-853D-FA958183D3E9}">
      <dgm:prSet/>
      <dgm:spPr/>
      <dgm:t>
        <a:bodyPr/>
        <a:lstStyle/>
        <a:p>
          <a:endParaRPr lang="en-US"/>
        </a:p>
      </dgm:t>
    </dgm:pt>
    <dgm:pt modelId="{5DBB464D-6A6A-4E36-9E93-F45AFE8A43AA}">
      <dgm:prSet/>
      <dgm:spPr/>
      <dgm:t>
        <a:bodyPr/>
        <a:lstStyle/>
        <a:p>
          <a:r>
            <a:rPr lang="en-US" b="0"/>
            <a:t>D </a:t>
          </a:r>
          <a:r>
            <a:rPr lang="en-US" b="1"/>
            <a:t>A B B A  A B B A</a:t>
          </a:r>
          <a:r>
            <a:rPr lang="en-US" b="0"/>
            <a:t> D      For </a:t>
          </a:r>
          <a:r>
            <a:rPr lang="en-US" b="1"/>
            <a:t>NMOS</a:t>
          </a:r>
          <a:r>
            <a:rPr lang="en-US" b="0"/>
            <a:t> differential input amplifier</a:t>
          </a:r>
          <a:endParaRPr lang="en-US"/>
        </a:p>
      </dgm:t>
    </dgm:pt>
    <dgm:pt modelId="{EE88B60F-54EF-4A08-A085-6801E7245B6B}" type="parTrans" cxnId="{E5B13FAF-0395-40AA-AC3B-186FB98F4CC4}">
      <dgm:prSet/>
      <dgm:spPr/>
      <dgm:t>
        <a:bodyPr/>
        <a:lstStyle/>
        <a:p>
          <a:endParaRPr lang="en-US"/>
        </a:p>
      </dgm:t>
    </dgm:pt>
    <dgm:pt modelId="{946AD18C-9F28-4063-9BF8-EB304D2EE938}" type="sibTrans" cxnId="{E5B13FAF-0395-40AA-AC3B-186FB98F4CC4}">
      <dgm:prSet/>
      <dgm:spPr/>
      <dgm:t>
        <a:bodyPr/>
        <a:lstStyle/>
        <a:p>
          <a:endParaRPr lang="en-US"/>
        </a:p>
      </dgm:t>
    </dgm:pt>
    <dgm:pt modelId="{45AF6DC3-8CED-4F9B-8629-6F37E57307FF}">
      <dgm:prSet/>
      <dgm:spPr/>
      <dgm:t>
        <a:bodyPr/>
        <a:lstStyle/>
        <a:p>
          <a:r>
            <a:rPr lang="en-US" b="0"/>
            <a:t>D D D D D D D D D D</a:t>
          </a:r>
          <a:endParaRPr lang="en-US"/>
        </a:p>
      </dgm:t>
    </dgm:pt>
    <dgm:pt modelId="{D36FE1EC-915D-4A5D-B741-C7FE7D9D14B5}" type="parTrans" cxnId="{7FCA90DB-B337-49EE-A9F5-22FFE22EF706}">
      <dgm:prSet/>
      <dgm:spPr/>
      <dgm:t>
        <a:bodyPr/>
        <a:lstStyle/>
        <a:p>
          <a:endParaRPr lang="en-US"/>
        </a:p>
      </dgm:t>
    </dgm:pt>
    <dgm:pt modelId="{E2A7D08B-4A18-4FCA-B68F-D2872FDF0960}" type="sibTrans" cxnId="{7FCA90DB-B337-49EE-A9F5-22FFE22EF706}">
      <dgm:prSet/>
      <dgm:spPr/>
      <dgm:t>
        <a:bodyPr/>
        <a:lstStyle/>
        <a:p>
          <a:endParaRPr lang="en-US"/>
        </a:p>
      </dgm:t>
    </dgm:pt>
    <dgm:pt modelId="{40B80329-001C-42C3-9BD2-1FBAF88BF78A}" type="pres">
      <dgm:prSet presAssocID="{FB47620F-4390-40A1-9BA9-034EF09F9001}" presName="vert0" presStyleCnt="0">
        <dgm:presLayoutVars>
          <dgm:dir/>
          <dgm:animOne val="branch"/>
          <dgm:animLvl val="lvl"/>
        </dgm:presLayoutVars>
      </dgm:prSet>
      <dgm:spPr/>
    </dgm:pt>
    <dgm:pt modelId="{5B1B8D0D-F31A-4446-96AF-BC5516B93D44}" type="pres">
      <dgm:prSet presAssocID="{846BD0DC-A98A-43F3-A3CF-7B9A74B8A0CB}" presName="thickLine" presStyleLbl="alignNode1" presStyleIdx="0" presStyleCnt="10"/>
      <dgm:spPr/>
    </dgm:pt>
    <dgm:pt modelId="{885EC7CA-BAB6-490A-85DE-00811E689E28}" type="pres">
      <dgm:prSet presAssocID="{846BD0DC-A98A-43F3-A3CF-7B9A74B8A0CB}" presName="horz1" presStyleCnt="0"/>
      <dgm:spPr/>
    </dgm:pt>
    <dgm:pt modelId="{B94654D7-E7DB-4780-81F8-8F1EF985D47C}" type="pres">
      <dgm:prSet presAssocID="{846BD0DC-A98A-43F3-A3CF-7B9A74B8A0CB}" presName="tx1" presStyleLbl="revTx" presStyleIdx="0" presStyleCnt="10"/>
      <dgm:spPr/>
    </dgm:pt>
    <dgm:pt modelId="{38E2E197-78D5-4227-A96E-B8791A72AEAB}" type="pres">
      <dgm:prSet presAssocID="{846BD0DC-A98A-43F3-A3CF-7B9A74B8A0CB}" presName="vert1" presStyleCnt="0"/>
      <dgm:spPr/>
    </dgm:pt>
    <dgm:pt modelId="{B17C619C-0EA2-410F-8220-AD3B6AF742D3}" type="pres">
      <dgm:prSet presAssocID="{27B34AD0-3B35-4208-84E7-5DE0E7E5AA11}" presName="thickLine" presStyleLbl="alignNode1" presStyleIdx="1" presStyleCnt="10"/>
      <dgm:spPr/>
    </dgm:pt>
    <dgm:pt modelId="{E5DABDDA-FC2D-4490-83CF-86CFE681193C}" type="pres">
      <dgm:prSet presAssocID="{27B34AD0-3B35-4208-84E7-5DE0E7E5AA11}" presName="horz1" presStyleCnt="0"/>
      <dgm:spPr/>
    </dgm:pt>
    <dgm:pt modelId="{E16FA2BF-6316-4615-AA38-416D57C77DA9}" type="pres">
      <dgm:prSet presAssocID="{27B34AD0-3B35-4208-84E7-5DE0E7E5AA11}" presName="tx1" presStyleLbl="revTx" presStyleIdx="1" presStyleCnt="10"/>
      <dgm:spPr/>
    </dgm:pt>
    <dgm:pt modelId="{963D6348-D91B-49AF-BAD5-4DF50A3AC707}" type="pres">
      <dgm:prSet presAssocID="{27B34AD0-3B35-4208-84E7-5DE0E7E5AA11}" presName="vert1" presStyleCnt="0"/>
      <dgm:spPr/>
    </dgm:pt>
    <dgm:pt modelId="{53650FD5-195D-4A58-864D-D8880B36D0F9}" type="pres">
      <dgm:prSet presAssocID="{46C21183-FF17-4A44-A2B9-DD2BE66E6C88}" presName="thickLine" presStyleLbl="alignNode1" presStyleIdx="2" presStyleCnt="10"/>
      <dgm:spPr/>
    </dgm:pt>
    <dgm:pt modelId="{9D569251-31BC-4573-84BF-75D9D1F102C6}" type="pres">
      <dgm:prSet presAssocID="{46C21183-FF17-4A44-A2B9-DD2BE66E6C88}" presName="horz1" presStyleCnt="0"/>
      <dgm:spPr/>
    </dgm:pt>
    <dgm:pt modelId="{895EBE4F-0CE9-4EBB-905E-564343AF82FA}" type="pres">
      <dgm:prSet presAssocID="{46C21183-FF17-4A44-A2B9-DD2BE66E6C88}" presName="tx1" presStyleLbl="revTx" presStyleIdx="2" presStyleCnt="10"/>
      <dgm:spPr/>
    </dgm:pt>
    <dgm:pt modelId="{3B5936A0-E345-41F8-8A19-6473FE26C322}" type="pres">
      <dgm:prSet presAssocID="{46C21183-FF17-4A44-A2B9-DD2BE66E6C88}" presName="vert1" presStyleCnt="0"/>
      <dgm:spPr/>
    </dgm:pt>
    <dgm:pt modelId="{48C71A9E-34FD-4ED1-A365-51E73967D77B}" type="pres">
      <dgm:prSet presAssocID="{FC676A36-7BA7-4749-AEF7-AC86DC1D5FEC}" presName="thickLine" presStyleLbl="alignNode1" presStyleIdx="3" presStyleCnt="10"/>
      <dgm:spPr/>
    </dgm:pt>
    <dgm:pt modelId="{0383B24B-BD9A-400E-9B68-8A3828B6128D}" type="pres">
      <dgm:prSet presAssocID="{FC676A36-7BA7-4749-AEF7-AC86DC1D5FEC}" presName="horz1" presStyleCnt="0"/>
      <dgm:spPr/>
    </dgm:pt>
    <dgm:pt modelId="{411DE9B0-4F7E-4415-9878-7375798B1DB9}" type="pres">
      <dgm:prSet presAssocID="{FC676A36-7BA7-4749-AEF7-AC86DC1D5FEC}" presName="tx1" presStyleLbl="revTx" presStyleIdx="3" presStyleCnt="10"/>
      <dgm:spPr/>
    </dgm:pt>
    <dgm:pt modelId="{11EF2912-7375-4941-8467-5E13B0DFDCC6}" type="pres">
      <dgm:prSet presAssocID="{FC676A36-7BA7-4749-AEF7-AC86DC1D5FEC}" presName="vert1" presStyleCnt="0"/>
      <dgm:spPr/>
    </dgm:pt>
    <dgm:pt modelId="{32CA35C0-ADBF-4BE8-9041-983959352720}" type="pres">
      <dgm:prSet presAssocID="{FC3B01DA-0075-4280-BE78-FA79E8253CAE}" presName="thickLine" presStyleLbl="alignNode1" presStyleIdx="4" presStyleCnt="10"/>
      <dgm:spPr/>
    </dgm:pt>
    <dgm:pt modelId="{D0173D04-C498-4E62-AEAC-26E961570B97}" type="pres">
      <dgm:prSet presAssocID="{FC3B01DA-0075-4280-BE78-FA79E8253CAE}" presName="horz1" presStyleCnt="0"/>
      <dgm:spPr/>
    </dgm:pt>
    <dgm:pt modelId="{5C136869-D28F-4142-942B-13C31096644E}" type="pres">
      <dgm:prSet presAssocID="{FC3B01DA-0075-4280-BE78-FA79E8253CAE}" presName="tx1" presStyleLbl="revTx" presStyleIdx="4" presStyleCnt="10"/>
      <dgm:spPr/>
    </dgm:pt>
    <dgm:pt modelId="{94BE65BD-4B18-4384-B78B-1BAAD7AC710F}" type="pres">
      <dgm:prSet presAssocID="{FC3B01DA-0075-4280-BE78-FA79E8253CAE}" presName="vert1" presStyleCnt="0"/>
      <dgm:spPr/>
    </dgm:pt>
    <dgm:pt modelId="{BCE520CC-26E4-49E6-AD81-6A9B2757EBF8}" type="pres">
      <dgm:prSet presAssocID="{CD1984BF-76AC-4200-8FE2-0BAB2C70ADD2}" presName="thickLine" presStyleLbl="alignNode1" presStyleIdx="5" presStyleCnt="10"/>
      <dgm:spPr/>
    </dgm:pt>
    <dgm:pt modelId="{2CBD31F5-1380-46AB-A46F-798FA15A03C7}" type="pres">
      <dgm:prSet presAssocID="{CD1984BF-76AC-4200-8FE2-0BAB2C70ADD2}" presName="horz1" presStyleCnt="0"/>
      <dgm:spPr/>
    </dgm:pt>
    <dgm:pt modelId="{3A8E2A84-4FD2-4F3B-9E2C-9FDC9E79F792}" type="pres">
      <dgm:prSet presAssocID="{CD1984BF-76AC-4200-8FE2-0BAB2C70ADD2}" presName="tx1" presStyleLbl="revTx" presStyleIdx="5" presStyleCnt="10"/>
      <dgm:spPr/>
    </dgm:pt>
    <dgm:pt modelId="{EE430514-9D23-406B-9939-1BF519CC4F4D}" type="pres">
      <dgm:prSet presAssocID="{CD1984BF-76AC-4200-8FE2-0BAB2C70ADD2}" presName="vert1" presStyleCnt="0"/>
      <dgm:spPr/>
    </dgm:pt>
    <dgm:pt modelId="{62797C62-3FBF-458E-AE43-F6D35B574AB9}" type="pres">
      <dgm:prSet presAssocID="{F8082AF1-0517-4874-BE18-8CA0883D53DB}" presName="thickLine" presStyleLbl="alignNode1" presStyleIdx="6" presStyleCnt="10"/>
      <dgm:spPr/>
    </dgm:pt>
    <dgm:pt modelId="{E1F66692-C3B9-404F-AA64-19CAEFC2D21F}" type="pres">
      <dgm:prSet presAssocID="{F8082AF1-0517-4874-BE18-8CA0883D53DB}" presName="horz1" presStyleCnt="0"/>
      <dgm:spPr/>
    </dgm:pt>
    <dgm:pt modelId="{F693B6C3-1086-4ADD-8645-BFF1368D9C9A}" type="pres">
      <dgm:prSet presAssocID="{F8082AF1-0517-4874-BE18-8CA0883D53DB}" presName="tx1" presStyleLbl="revTx" presStyleIdx="6" presStyleCnt="10"/>
      <dgm:spPr/>
    </dgm:pt>
    <dgm:pt modelId="{FD543875-12A9-419A-BB4F-99032FFC8890}" type="pres">
      <dgm:prSet presAssocID="{F8082AF1-0517-4874-BE18-8CA0883D53DB}" presName="vert1" presStyleCnt="0"/>
      <dgm:spPr/>
    </dgm:pt>
    <dgm:pt modelId="{EB47C4F9-9208-4DF4-88A3-A6569FABA647}" type="pres">
      <dgm:prSet presAssocID="{D6815583-57EB-46C6-98AF-7EF9C0E07623}" presName="thickLine" presStyleLbl="alignNode1" presStyleIdx="7" presStyleCnt="10"/>
      <dgm:spPr/>
    </dgm:pt>
    <dgm:pt modelId="{2AE5D6A3-388B-4EB9-85FA-2A69190A70FE}" type="pres">
      <dgm:prSet presAssocID="{D6815583-57EB-46C6-98AF-7EF9C0E07623}" presName="horz1" presStyleCnt="0"/>
      <dgm:spPr/>
    </dgm:pt>
    <dgm:pt modelId="{68EB517D-964C-4C49-BB34-6976A35EF94F}" type="pres">
      <dgm:prSet presAssocID="{D6815583-57EB-46C6-98AF-7EF9C0E07623}" presName="tx1" presStyleLbl="revTx" presStyleIdx="7" presStyleCnt="10"/>
      <dgm:spPr/>
    </dgm:pt>
    <dgm:pt modelId="{02CD4D93-D91E-421A-B0DA-6EFD6B3D795F}" type="pres">
      <dgm:prSet presAssocID="{D6815583-57EB-46C6-98AF-7EF9C0E07623}" presName="vert1" presStyleCnt="0"/>
      <dgm:spPr/>
    </dgm:pt>
    <dgm:pt modelId="{C4A57E84-BF03-4202-9891-C49ACB4126B9}" type="pres">
      <dgm:prSet presAssocID="{5DBB464D-6A6A-4E36-9E93-F45AFE8A43AA}" presName="thickLine" presStyleLbl="alignNode1" presStyleIdx="8" presStyleCnt="10"/>
      <dgm:spPr/>
    </dgm:pt>
    <dgm:pt modelId="{C28D1589-ACE2-4D4C-A16C-E00914B7FFE3}" type="pres">
      <dgm:prSet presAssocID="{5DBB464D-6A6A-4E36-9E93-F45AFE8A43AA}" presName="horz1" presStyleCnt="0"/>
      <dgm:spPr/>
    </dgm:pt>
    <dgm:pt modelId="{0FA4EAB7-8DA4-4ACB-85AA-A25B6A9E67C1}" type="pres">
      <dgm:prSet presAssocID="{5DBB464D-6A6A-4E36-9E93-F45AFE8A43AA}" presName="tx1" presStyleLbl="revTx" presStyleIdx="8" presStyleCnt="10"/>
      <dgm:spPr/>
    </dgm:pt>
    <dgm:pt modelId="{81BE983D-FCA1-4DC1-B824-6866C82485ED}" type="pres">
      <dgm:prSet presAssocID="{5DBB464D-6A6A-4E36-9E93-F45AFE8A43AA}" presName="vert1" presStyleCnt="0"/>
      <dgm:spPr/>
    </dgm:pt>
    <dgm:pt modelId="{434B8B0F-B908-40A3-B669-7EF18495625E}" type="pres">
      <dgm:prSet presAssocID="{45AF6DC3-8CED-4F9B-8629-6F37E57307FF}" presName="thickLine" presStyleLbl="alignNode1" presStyleIdx="9" presStyleCnt="10"/>
      <dgm:spPr/>
    </dgm:pt>
    <dgm:pt modelId="{813A6832-14F4-4989-8069-A021E7018AAA}" type="pres">
      <dgm:prSet presAssocID="{45AF6DC3-8CED-4F9B-8629-6F37E57307FF}" presName="horz1" presStyleCnt="0"/>
      <dgm:spPr/>
    </dgm:pt>
    <dgm:pt modelId="{35141C18-54DF-4D19-8AED-160A5BFC4929}" type="pres">
      <dgm:prSet presAssocID="{45AF6DC3-8CED-4F9B-8629-6F37E57307FF}" presName="tx1" presStyleLbl="revTx" presStyleIdx="9" presStyleCnt="10"/>
      <dgm:spPr/>
    </dgm:pt>
    <dgm:pt modelId="{B4C2483B-35FB-41C2-B379-A3A1E06B85D6}" type="pres">
      <dgm:prSet presAssocID="{45AF6DC3-8CED-4F9B-8629-6F37E57307FF}" presName="vert1" presStyleCnt="0"/>
      <dgm:spPr/>
    </dgm:pt>
  </dgm:ptLst>
  <dgm:cxnLst>
    <dgm:cxn modelId="{DECC4C1E-5CFF-411F-B416-9BFC398EC0BA}" srcId="{FB47620F-4390-40A1-9BA9-034EF09F9001}" destId="{FC3B01DA-0075-4280-BE78-FA79E8253CAE}" srcOrd="4" destOrd="0" parTransId="{E4C8BD8F-70A1-4A1C-A406-CB308EDA3E8B}" sibTransId="{0CA422D8-9FC0-40F4-9EE6-B7DA379E5D63}"/>
    <dgm:cxn modelId="{15938031-A268-4D6A-A3F9-DDA778371D8F}" type="presOf" srcId="{CD1984BF-76AC-4200-8FE2-0BAB2C70ADD2}" destId="{3A8E2A84-4FD2-4F3B-9E2C-9FDC9E79F792}" srcOrd="0" destOrd="0" presId="urn:microsoft.com/office/officeart/2008/layout/LinedList"/>
    <dgm:cxn modelId="{63C93135-13F7-4944-8457-B6730C39D525}" type="presOf" srcId="{45AF6DC3-8CED-4F9B-8629-6F37E57307FF}" destId="{35141C18-54DF-4D19-8AED-160A5BFC4929}" srcOrd="0" destOrd="0" presId="urn:microsoft.com/office/officeart/2008/layout/LinedList"/>
    <dgm:cxn modelId="{1E0D2C3A-B0FB-49CD-9027-31443FD9219D}" srcId="{FB47620F-4390-40A1-9BA9-034EF09F9001}" destId="{CD1984BF-76AC-4200-8FE2-0BAB2C70ADD2}" srcOrd="5" destOrd="0" parTransId="{7377A42C-5C89-4931-8D04-A53562B69890}" sibTransId="{A25B556F-B833-496C-B523-29EAD7A7B6F6}"/>
    <dgm:cxn modelId="{6EF14B3A-AEA1-45F9-A7A9-CC616DC064F8}" srcId="{FB47620F-4390-40A1-9BA9-034EF09F9001}" destId="{FC676A36-7BA7-4749-AEF7-AC86DC1D5FEC}" srcOrd="3" destOrd="0" parTransId="{9F14F085-42DB-4563-AED9-615BD84550D5}" sibTransId="{92D61DFC-C1BC-4B33-91B6-AAD4677B4CD0}"/>
    <dgm:cxn modelId="{174AE35F-747E-4FF9-BCE5-CE07A3CE6A39}" type="presOf" srcId="{846BD0DC-A98A-43F3-A3CF-7B9A74B8A0CB}" destId="{B94654D7-E7DB-4780-81F8-8F1EF985D47C}" srcOrd="0" destOrd="0" presId="urn:microsoft.com/office/officeart/2008/layout/LinedList"/>
    <dgm:cxn modelId="{7207F961-4846-46E5-9923-535EAE277BC8}" type="presOf" srcId="{27B34AD0-3B35-4208-84E7-5DE0E7E5AA11}" destId="{E16FA2BF-6316-4615-AA38-416D57C77DA9}" srcOrd="0" destOrd="0" presId="urn:microsoft.com/office/officeart/2008/layout/LinedList"/>
    <dgm:cxn modelId="{32255862-210B-412D-B843-54745F0B0DDB}" type="presOf" srcId="{FC3B01DA-0075-4280-BE78-FA79E8253CAE}" destId="{5C136869-D28F-4142-942B-13C31096644E}" srcOrd="0" destOrd="0" presId="urn:microsoft.com/office/officeart/2008/layout/LinedList"/>
    <dgm:cxn modelId="{431B196D-084E-451E-9DF8-793BF4309477}" type="presOf" srcId="{F8082AF1-0517-4874-BE18-8CA0883D53DB}" destId="{F693B6C3-1086-4ADD-8645-BFF1368D9C9A}" srcOrd="0" destOrd="0" presId="urn:microsoft.com/office/officeart/2008/layout/LinedList"/>
    <dgm:cxn modelId="{79290872-47A8-424A-AABF-DA9176B7CFE0}" type="presOf" srcId="{5DBB464D-6A6A-4E36-9E93-F45AFE8A43AA}" destId="{0FA4EAB7-8DA4-4ACB-85AA-A25B6A9E67C1}" srcOrd="0" destOrd="0" presId="urn:microsoft.com/office/officeart/2008/layout/LinedList"/>
    <dgm:cxn modelId="{AB5AD377-5741-4303-82F4-C56964967BB9}" srcId="{FB47620F-4390-40A1-9BA9-034EF09F9001}" destId="{27B34AD0-3B35-4208-84E7-5DE0E7E5AA11}" srcOrd="1" destOrd="0" parTransId="{318B898F-E8E7-4F56-95C0-05BE2582D830}" sibTransId="{CFB8DFCF-F099-409C-8E93-49299BF6E84A}"/>
    <dgm:cxn modelId="{4C775E89-5228-46AE-A945-D4F3F03233F4}" type="presOf" srcId="{FC676A36-7BA7-4749-AEF7-AC86DC1D5FEC}" destId="{411DE9B0-4F7E-4415-9878-7375798B1DB9}" srcOrd="0" destOrd="0" presId="urn:microsoft.com/office/officeart/2008/layout/LinedList"/>
    <dgm:cxn modelId="{09C43D9F-71CD-4A59-B38C-40D9618D0071}" srcId="{FB47620F-4390-40A1-9BA9-034EF09F9001}" destId="{F8082AF1-0517-4874-BE18-8CA0883D53DB}" srcOrd="6" destOrd="0" parTransId="{8A2A75F7-BB13-4158-B8D4-066C98F536A8}" sibTransId="{0162FBF0-653A-46B5-B7C8-826546EA932C}"/>
    <dgm:cxn modelId="{7D237EA1-75C4-4296-853D-FA958183D3E9}" srcId="{FB47620F-4390-40A1-9BA9-034EF09F9001}" destId="{D6815583-57EB-46C6-98AF-7EF9C0E07623}" srcOrd="7" destOrd="0" parTransId="{867B55D6-176C-48E1-B7DF-8F2B7A7FFEF8}" sibTransId="{50D6696F-9D41-4FBF-BC0C-B6D9DB7C1989}"/>
    <dgm:cxn modelId="{1F472BAB-39DA-486C-93DA-FD917D9447AC}" srcId="{FB47620F-4390-40A1-9BA9-034EF09F9001}" destId="{846BD0DC-A98A-43F3-A3CF-7B9A74B8A0CB}" srcOrd="0" destOrd="0" parTransId="{53443F3D-4444-43A1-82C3-56A0B30709F9}" sibTransId="{449B5C39-61DD-4B6D-BC5D-C62DA191E924}"/>
    <dgm:cxn modelId="{E5B13FAF-0395-40AA-AC3B-186FB98F4CC4}" srcId="{FB47620F-4390-40A1-9BA9-034EF09F9001}" destId="{5DBB464D-6A6A-4E36-9E93-F45AFE8A43AA}" srcOrd="8" destOrd="0" parTransId="{EE88B60F-54EF-4A08-A085-6801E7245B6B}" sibTransId="{946AD18C-9F28-4063-9BF8-EB304D2EE938}"/>
    <dgm:cxn modelId="{CF62D1AF-2223-4605-BF01-B15BAA55EE9F}" type="presOf" srcId="{46C21183-FF17-4A44-A2B9-DD2BE66E6C88}" destId="{895EBE4F-0CE9-4EBB-905E-564343AF82FA}" srcOrd="0" destOrd="0" presId="urn:microsoft.com/office/officeart/2008/layout/LinedList"/>
    <dgm:cxn modelId="{3B372CC7-A95A-4062-91B3-1141F3184742}" type="presOf" srcId="{D6815583-57EB-46C6-98AF-7EF9C0E07623}" destId="{68EB517D-964C-4C49-BB34-6976A35EF94F}" srcOrd="0" destOrd="0" presId="urn:microsoft.com/office/officeart/2008/layout/LinedList"/>
    <dgm:cxn modelId="{7FCA90DB-B337-49EE-A9F5-22FFE22EF706}" srcId="{FB47620F-4390-40A1-9BA9-034EF09F9001}" destId="{45AF6DC3-8CED-4F9B-8629-6F37E57307FF}" srcOrd="9" destOrd="0" parTransId="{D36FE1EC-915D-4A5D-B741-C7FE7D9D14B5}" sibTransId="{E2A7D08B-4A18-4FCA-B68F-D2872FDF0960}"/>
    <dgm:cxn modelId="{AE4DCCE1-44CD-46E2-9117-8AC853B98E10}" type="presOf" srcId="{FB47620F-4390-40A1-9BA9-034EF09F9001}" destId="{40B80329-001C-42C3-9BD2-1FBAF88BF78A}" srcOrd="0" destOrd="0" presId="urn:microsoft.com/office/officeart/2008/layout/LinedList"/>
    <dgm:cxn modelId="{1B420EE7-9115-4733-BEF0-5F68FE2AEE78}" srcId="{FB47620F-4390-40A1-9BA9-034EF09F9001}" destId="{46C21183-FF17-4A44-A2B9-DD2BE66E6C88}" srcOrd="2" destOrd="0" parTransId="{1E094850-3746-49C8-B9C4-56F41FBBC9BB}" sibTransId="{8F539510-044D-4BC0-BE55-6ECD5A56F34A}"/>
    <dgm:cxn modelId="{728D1994-3D76-43D2-B51B-ED8C86839808}" type="presParOf" srcId="{40B80329-001C-42C3-9BD2-1FBAF88BF78A}" destId="{5B1B8D0D-F31A-4446-96AF-BC5516B93D44}" srcOrd="0" destOrd="0" presId="urn:microsoft.com/office/officeart/2008/layout/LinedList"/>
    <dgm:cxn modelId="{974E9D90-2C52-4B60-A015-7E251DBFC353}" type="presParOf" srcId="{40B80329-001C-42C3-9BD2-1FBAF88BF78A}" destId="{885EC7CA-BAB6-490A-85DE-00811E689E28}" srcOrd="1" destOrd="0" presId="urn:microsoft.com/office/officeart/2008/layout/LinedList"/>
    <dgm:cxn modelId="{C367CA76-B461-4798-B3BA-4B0A243E7BD5}" type="presParOf" srcId="{885EC7CA-BAB6-490A-85DE-00811E689E28}" destId="{B94654D7-E7DB-4780-81F8-8F1EF985D47C}" srcOrd="0" destOrd="0" presId="urn:microsoft.com/office/officeart/2008/layout/LinedList"/>
    <dgm:cxn modelId="{49CF053E-FDDE-42B7-ADF0-3987636E6A34}" type="presParOf" srcId="{885EC7CA-BAB6-490A-85DE-00811E689E28}" destId="{38E2E197-78D5-4227-A96E-B8791A72AEAB}" srcOrd="1" destOrd="0" presId="urn:microsoft.com/office/officeart/2008/layout/LinedList"/>
    <dgm:cxn modelId="{40F9FBBB-55FB-4105-B50A-1B9599B57F8A}" type="presParOf" srcId="{40B80329-001C-42C3-9BD2-1FBAF88BF78A}" destId="{B17C619C-0EA2-410F-8220-AD3B6AF742D3}" srcOrd="2" destOrd="0" presId="urn:microsoft.com/office/officeart/2008/layout/LinedList"/>
    <dgm:cxn modelId="{CCF9E29C-57C8-4CDC-99FF-33D6E6A8C538}" type="presParOf" srcId="{40B80329-001C-42C3-9BD2-1FBAF88BF78A}" destId="{E5DABDDA-FC2D-4490-83CF-86CFE681193C}" srcOrd="3" destOrd="0" presId="urn:microsoft.com/office/officeart/2008/layout/LinedList"/>
    <dgm:cxn modelId="{54F8DD69-A8E4-47E7-9510-51CB47E956A6}" type="presParOf" srcId="{E5DABDDA-FC2D-4490-83CF-86CFE681193C}" destId="{E16FA2BF-6316-4615-AA38-416D57C77DA9}" srcOrd="0" destOrd="0" presId="urn:microsoft.com/office/officeart/2008/layout/LinedList"/>
    <dgm:cxn modelId="{5E522A3C-14FC-476D-8BA7-CAAF3DD76651}" type="presParOf" srcId="{E5DABDDA-FC2D-4490-83CF-86CFE681193C}" destId="{963D6348-D91B-49AF-BAD5-4DF50A3AC707}" srcOrd="1" destOrd="0" presId="urn:microsoft.com/office/officeart/2008/layout/LinedList"/>
    <dgm:cxn modelId="{8BFA6406-3656-4BE1-853C-3AFB46DC8CC7}" type="presParOf" srcId="{40B80329-001C-42C3-9BD2-1FBAF88BF78A}" destId="{53650FD5-195D-4A58-864D-D8880B36D0F9}" srcOrd="4" destOrd="0" presId="urn:microsoft.com/office/officeart/2008/layout/LinedList"/>
    <dgm:cxn modelId="{A37ED798-7870-4B8E-9E00-DF35F9832694}" type="presParOf" srcId="{40B80329-001C-42C3-9BD2-1FBAF88BF78A}" destId="{9D569251-31BC-4573-84BF-75D9D1F102C6}" srcOrd="5" destOrd="0" presId="urn:microsoft.com/office/officeart/2008/layout/LinedList"/>
    <dgm:cxn modelId="{8D035539-3275-4271-A534-BC12451BB9B0}" type="presParOf" srcId="{9D569251-31BC-4573-84BF-75D9D1F102C6}" destId="{895EBE4F-0CE9-4EBB-905E-564343AF82FA}" srcOrd="0" destOrd="0" presId="urn:microsoft.com/office/officeart/2008/layout/LinedList"/>
    <dgm:cxn modelId="{35C4959B-DA12-4043-8346-BF037EF8F7B0}" type="presParOf" srcId="{9D569251-31BC-4573-84BF-75D9D1F102C6}" destId="{3B5936A0-E345-41F8-8A19-6473FE26C322}" srcOrd="1" destOrd="0" presId="urn:microsoft.com/office/officeart/2008/layout/LinedList"/>
    <dgm:cxn modelId="{B0CC4B43-6EEB-40C3-88AE-1CB3DEC03D47}" type="presParOf" srcId="{40B80329-001C-42C3-9BD2-1FBAF88BF78A}" destId="{48C71A9E-34FD-4ED1-A365-51E73967D77B}" srcOrd="6" destOrd="0" presId="urn:microsoft.com/office/officeart/2008/layout/LinedList"/>
    <dgm:cxn modelId="{6B8C121F-C525-4965-92DA-81F750AAD7B5}" type="presParOf" srcId="{40B80329-001C-42C3-9BD2-1FBAF88BF78A}" destId="{0383B24B-BD9A-400E-9B68-8A3828B6128D}" srcOrd="7" destOrd="0" presId="urn:microsoft.com/office/officeart/2008/layout/LinedList"/>
    <dgm:cxn modelId="{A35EC8FF-91A0-459A-8014-6E9B50E4F751}" type="presParOf" srcId="{0383B24B-BD9A-400E-9B68-8A3828B6128D}" destId="{411DE9B0-4F7E-4415-9878-7375798B1DB9}" srcOrd="0" destOrd="0" presId="urn:microsoft.com/office/officeart/2008/layout/LinedList"/>
    <dgm:cxn modelId="{ADBA8DC4-025A-4562-917E-D3DDD3D20798}" type="presParOf" srcId="{0383B24B-BD9A-400E-9B68-8A3828B6128D}" destId="{11EF2912-7375-4941-8467-5E13B0DFDCC6}" srcOrd="1" destOrd="0" presId="urn:microsoft.com/office/officeart/2008/layout/LinedList"/>
    <dgm:cxn modelId="{9C7AE40A-D357-4BCF-AE77-9555750DD657}" type="presParOf" srcId="{40B80329-001C-42C3-9BD2-1FBAF88BF78A}" destId="{32CA35C0-ADBF-4BE8-9041-983959352720}" srcOrd="8" destOrd="0" presId="urn:microsoft.com/office/officeart/2008/layout/LinedList"/>
    <dgm:cxn modelId="{0D8239A7-9BCC-4608-B7F3-C24D7C8229B3}" type="presParOf" srcId="{40B80329-001C-42C3-9BD2-1FBAF88BF78A}" destId="{D0173D04-C498-4E62-AEAC-26E961570B97}" srcOrd="9" destOrd="0" presId="urn:microsoft.com/office/officeart/2008/layout/LinedList"/>
    <dgm:cxn modelId="{A53A8560-9066-4420-A9F0-CA31A33A5B12}" type="presParOf" srcId="{D0173D04-C498-4E62-AEAC-26E961570B97}" destId="{5C136869-D28F-4142-942B-13C31096644E}" srcOrd="0" destOrd="0" presId="urn:microsoft.com/office/officeart/2008/layout/LinedList"/>
    <dgm:cxn modelId="{77656900-6CB8-4C72-8707-BEB7759FB03A}" type="presParOf" srcId="{D0173D04-C498-4E62-AEAC-26E961570B97}" destId="{94BE65BD-4B18-4384-B78B-1BAAD7AC710F}" srcOrd="1" destOrd="0" presId="urn:microsoft.com/office/officeart/2008/layout/LinedList"/>
    <dgm:cxn modelId="{1CAFBAD8-BFC8-41ED-A513-1C51FE214868}" type="presParOf" srcId="{40B80329-001C-42C3-9BD2-1FBAF88BF78A}" destId="{BCE520CC-26E4-49E6-AD81-6A9B2757EBF8}" srcOrd="10" destOrd="0" presId="urn:microsoft.com/office/officeart/2008/layout/LinedList"/>
    <dgm:cxn modelId="{87F516FB-6D3B-49F0-83F4-F0E54E348A9F}" type="presParOf" srcId="{40B80329-001C-42C3-9BD2-1FBAF88BF78A}" destId="{2CBD31F5-1380-46AB-A46F-798FA15A03C7}" srcOrd="11" destOrd="0" presId="urn:microsoft.com/office/officeart/2008/layout/LinedList"/>
    <dgm:cxn modelId="{19571B34-F3C2-437A-8AF8-937C44564758}" type="presParOf" srcId="{2CBD31F5-1380-46AB-A46F-798FA15A03C7}" destId="{3A8E2A84-4FD2-4F3B-9E2C-9FDC9E79F792}" srcOrd="0" destOrd="0" presId="urn:microsoft.com/office/officeart/2008/layout/LinedList"/>
    <dgm:cxn modelId="{1D24859F-1E97-4EA0-9BFD-9F5EA6C079DB}" type="presParOf" srcId="{2CBD31F5-1380-46AB-A46F-798FA15A03C7}" destId="{EE430514-9D23-406B-9939-1BF519CC4F4D}" srcOrd="1" destOrd="0" presId="urn:microsoft.com/office/officeart/2008/layout/LinedList"/>
    <dgm:cxn modelId="{19377D48-CADF-4AB7-82AD-71015B3F37A1}" type="presParOf" srcId="{40B80329-001C-42C3-9BD2-1FBAF88BF78A}" destId="{62797C62-3FBF-458E-AE43-F6D35B574AB9}" srcOrd="12" destOrd="0" presId="urn:microsoft.com/office/officeart/2008/layout/LinedList"/>
    <dgm:cxn modelId="{291FE660-DF58-4FCC-A3C8-288BA89868C5}" type="presParOf" srcId="{40B80329-001C-42C3-9BD2-1FBAF88BF78A}" destId="{E1F66692-C3B9-404F-AA64-19CAEFC2D21F}" srcOrd="13" destOrd="0" presId="urn:microsoft.com/office/officeart/2008/layout/LinedList"/>
    <dgm:cxn modelId="{E6096EE0-52EF-4191-916E-C78E17898DE9}" type="presParOf" srcId="{E1F66692-C3B9-404F-AA64-19CAEFC2D21F}" destId="{F693B6C3-1086-4ADD-8645-BFF1368D9C9A}" srcOrd="0" destOrd="0" presId="urn:microsoft.com/office/officeart/2008/layout/LinedList"/>
    <dgm:cxn modelId="{7A64CB9C-3140-453C-805F-553368C40257}" type="presParOf" srcId="{E1F66692-C3B9-404F-AA64-19CAEFC2D21F}" destId="{FD543875-12A9-419A-BB4F-99032FFC8890}" srcOrd="1" destOrd="0" presId="urn:microsoft.com/office/officeart/2008/layout/LinedList"/>
    <dgm:cxn modelId="{7676B43B-91CC-40C6-A711-53FAC6486F9D}" type="presParOf" srcId="{40B80329-001C-42C3-9BD2-1FBAF88BF78A}" destId="{EB47C4F9-9208-4DF4-88A3-A6569FABA647}" srcOrd="14" destOrd="0" presId="urn:microsoft.com/office/officeart/2008/layout/LinedList"/>
    <dgm:cxn modelId="{E7186369-C086-4876-8BFB-2E483A5B838B}" type="presParOf" srcId="{40B80329-001C-42C3-9BD2-1FBAF88BF78A}" destId="{2AE5D6A3-388B-4EB9-85FA-2A69190A70FE}" srcOrd="15" destOrd="0" presId="urn:microsoft.com/office/officeart/2008/layout/LinedList"/>
    <dgm:cxn modelId="{B8540C51-4188-40D0-A2DC-6DBA2210BD8A}" type="presParOf" srcId="{2AE5D6A3-388B-4EB9-85FA-2A69190A70FE}" destId="{68EB517D-964C-4C49-BB34-6976A35EF94F}" srcOrd="0" destOrd="0" presId="urn:microsoft.com/office/officeart/2008/layout/LinedList"/>
    <dgm:cxn modelId="{499BB17A-2851-4140-A28C-F832F98C0447}" type="presParOf" srcId="{2AE5D6A3-388B-4EB9-85FA-2A69190A70FE}" destId="{02CD4D93-D91E-421A-B0DA-6EFD6B3D795F}" srcOrd="1" destOrd="0" presId="urn:microsoft.com/office/officeart/2008/layout/LinedList"/>
    <dgm:cxn modelId="{DFF8DC08-7125-4ECF-98F4-4FAC9B9FC9A9}" type="presParOf" srcId="{40B80329-001C-42C3-9BD2-1FBAF88BF78A}" destId="{C4A57E84-BF03-4202-9891-C49ACB4126B9}" srcOrd="16" destOrd="0" presId="urn:microsoft.com/office/officeart/2008/layout/LinedList"/>
    <dgm:cxn modelId="{6E4D157F-21AC-4104-869A-C6AC13FA569A}" type="presParOf" srcId="{40B80329-001C-42C3-9BD2-1FBAF88BF78A}" destId="{C28D1589-ACE2-4D4C-A16C-E00914B7FFE3}" srcOrd="17" destOrd="0" presId="urn:microsoft.com/office/officeart/2008/layout/LinedList"/>
    <dgm:cxn modelId="{B6039FBF-026B-4A58-B264-6E74171638C5}" type="presParOf" srcId="{C28D1589-ACE2-4D4C-A16C-E00914B7FFE3}" destId="{0FA4EAB7-8DA4-4ACB-85AA-A25B6A9E67C1}" srcOrd="0" destOrd="0" presId="urn:microsoft.com/office/officeart/2008/layout/LinedList"/>
    <dgm:cxn modelId="{F0B026EA-1063-44D1-90BD-2E0FDA30BD2A}" type="presParOf" srcId="{C28D1589-ACE2-4D4C-A16C-E00914B7FFE3}" destId="{81BE983D-FCA1-4DC1-B824-6866C82485ED}" srcOrd="1" destOrd="0" presId="urn:microsoft.com/office/officeart/2008/layout/LinedList"/>
    <dgm:cxn modelId="{FC78A90F-2968-4EDD-AA4E-14F46CA0F243}" type="presParOf" srcId="{40B80329-001C-42C3-9BD2-1FBAF88BF78A}" destId="{434B8B0F-B908-40A3-B669-7EF18495625E}" srcOrd="18" destOrd="0" presId="urn:microsoft.com/office/officeart/2008/layout/LinedList"/>
    <dgm:cxn modelId="{AFB02BCD-C881-4C15-84B3-0B9F96DF967E}" type="presParOf" srcId="{40B80329-001C-42C3-9BD2-1FBAF88BF78A}" destId="{813A6832-14F4-4989-8069-A021E7018AAA}" srcOrd="19" destOrd="0" presId="urn:microsoft.com/office/officeart/2008/layout/LinedList"/>
    <dgm:cxn modelId="{8728ED2A-3AF8-47E3-94D3-124E84E0507C}" type="presParOf" srcId="{813A6832-14F4-4989-8069-A021E7018AAA}" destId="{35141C18-54DF-4D19-8AED-160A5BFC4929}" srcOrd="0" destOrd="0" presId="urn:microsoft.com/office/officeart/2008/layout/LinedList"/>
    <dgm:cxn modelId="{03B363C8-B8B3-4FC9-9121-D1BF1F083F3C}" type="presParOf" srcId="{813A6832-14F4-4989-8069-A021E7018AAA}" destId="{B4C2483B-35FB-41C2-B379-A3A1E06B85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B8D0D-F31A-4446-96AF-BC5516B93D44}">
      <dsp:nvSpPr>
        <dsp:cNvPr id="0" name=""/>
        <dsp:cNvSpPr/>
      </dsp:nvSpPr>
      <dsp:spPr>
        <a:xfrm>
          <a:off x="0" y="531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654D7-E7DB-4780-81F8-8F1EF985D47C}">
      <dsp:nvSpPr>
        <dsp:cNvPr id="0" name=""/>
        <dsp:cNvSpPr/>
      </dsp:nvSpPr>
      <dsp:spPr>
        <a:xfrm>
          <a:off x="0" y="531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Floor plans:</a:t>
          </a:r>
          <a:endParaRPr lang="en-US" sz="2000" kern="1200"/>
        </a:p>
      </dsp:txBody>
      <dsp:txXfrm>
        <a:off x="0" y="531"/>
        <a:ext cx="10515239" cy="435148"/>
      </dsp:txXfrm>
    </dsp:sp>
    <dsp:sp modelId="{B17C619C-0EA2-410F-8220-AD3B6AF742D3}">
      <dsp:nvSpPr>
        <dsp:cNvPr id="0" name=""/>
        <dsp:cNvSpPr/>
      </dsp:nvSpPr>
      <dsp:spPr>
        <a:xfrm>
          <a:off x="0" y="435679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FA2BF-6316-4615-AA38-416D57C77DA9}">
      <dsp:nvSpPr>
        <dsp:cNvPr id="0" name=""/>
        <dsp:cNvSpPr/>
      </dsp:nvSpPr>
      <dsp:spPr>
        <a:xfrm>
          <a:off x="0" y="435679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Placed in symmetrical manner </a:t>
          </a:r>
          <a:endParaRPr lang="en-US" sz="2000" kern="1200"/>
        </a:p>
      </dsp:txBody>
      <dsp:txXfrm>
        <a:off x="0" y="435679"/>
        <a:ext cx="10515239" cy="435148"/>
      </dsp:txXfrm>
    </dsp:sp>
    <dsp:sp modelId="{53650FD5-195D-4A58-864D-D8880B36D0F9}">
      <dsp:nvSpPr>
        <dsp:cNvPr id="0" name=""/>
        <dsp:cNvSpPr/>
      </dsp:nvSpPr>
      <dsp:spPr>
        <a:xfrm>
          <a:off x="0" y="870827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EBE4F-0CE9-4EBB-905E-564343AF82FA}">
      <dsp:nvSpPr>
        <dsp:cNvPr id="0" name=""/>
        <dsp:cNvSpPr/>
      </dsp:nvSpPr>
      <dsp:spPr>
        <a:xfrm>
          <a:off x="0" y="870827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Each transistor exposed to similar environment </a:t>
          </a:r>
          <a:endParaRPr lang="en-US" sz="2000" kern="1200"/>
        </a:p>
      </dsp:txBody>
      <dsp:txXfrm>
        <a:off x="0" y="870827"/>
        <a:ext cx="10515239" cy="435148"/>
      </dsp:txXfrm>
    </dsp:sp>
    <dsp:sp modelId="{48C71A9E-34FD-4ED1-A365-51E73967D77B}">
      <dsp:nvSpPr>
        <dsp:cNvPr id="0" name=""/>
        <dsp:cNvSpPr/>
      </dsp:nvSpPr>
      <dsp:spPr>
        <a:xfrm>
          <a:off x="0" y="1305975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DE9B0-4F7E-4415-9878-7375798B1DB9}">
      <dsp:nvSpPr>
        <dsp:cNvPr id="0" name=""/>
        <dsp:cNvSpPr/>
      </dsp:nvSpPr>
      <dsp:spPr>
        <a:xfrm>
          <a:off x="0" y="1305975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Symmetrical changes in properties (Vth,Vgs etc)</a:t>
          </a:r>
          <a:endParaRPr lang="en-US" sz="2000" kern="1200"/>
        </a:p>
      </dsp:txBody>
      <dsp:txXfrm>
        <a:off x="0" y="1305975"/>
        <a:ext cx="10515239" cy="435148"/>
      </dsp:txXfrm>
    </dsp:sp>
    <dsp:sp modelId="{32CA35C0-ADBF-4BE8-9041-983959352720}">
      <dsp:nvSpPr>
        <dsp:cNvPr id="0" name=""/>
        <dsp:cNvSpPr/>
      </dsp:nvSpPr>
      <dsp:spPr>
        <a:xfrm>
          <a:off x="0" y="1741123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36869-D28F-4142-942B-13C31096644E}">
      <dsp:nvSpPr>
        <dsp:cNvPr id="0" name=""/>
        <dsp:cNvSpPr/>
      </dsp:nvSpPr>
      <dsp:spPr>
        <a:xfrm>
          <a:off x="0" y="1741123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D D D</a:t>
          </a:r>
          <a:endParaRPr lang="en-US" sz="2000" kern="1200"/>
        </a:p>
      </dsp:txBody>
      <dsp:txXfrm>
        <a:off x="0" y="1741123"/>
        <a:ext cx="10515239" cy="435148"/>
      </dsp:txXfrm>
    </dsp:sp>
    <dsp:sp modelId="{BCE520CC-26E4-49E6-AD81-6A9B2757EBF8}">
      <dsp:nvSpPr>
        <dsp:cNvPr id="0" name=""/>
        <dsp:cNvSpPr/>
      </dsp:nvSpPr>
      <dsp:spPr>
        <a:xfrm>
          <a:off x="0" y="2176272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E2A84-4FD2-4F3B-9E2C-9FDC9E79F792}">
      <dsp:nvSpPr>
        <dsp:cNvPr id="0" name=""/>
        <dsp:cNvSpPr/>
      </dsp:nvSpPr>
      <dsp:spPr>
        <a:xfrm>
          <a:off x="0" y="2176272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</a:t>
          </a:r>
          <a:r>
            <a:rPr lang="en-US" sz="2000" b="1" kern="1200"/>
            <a:t>A B</a:t>
          </a:r>
          <a:r>
            <a:rPr lang="en-US" sz="2000" b="0" kern="1200"/>
            <a:t> D          For </a:t>
          </a:r>
          <a:r>
            <a:rPr lang="en-US" sz="2000" b="1" kern="1200"/>
            <a:t>PMOS</a:t>
          </a:r>
          <a:r>
            <a:rPr lang="en-US" sz="2000" b="0" kern="1200"/>
            <a:t> current source load </a:t>
          </a:r>
          <a:endParaRPr lang="en-US" sz="2000" kern="1200"/>
        </a:p>
      </dsp:txBody>
      <dsp:txXfrm>
        <a:off x="0" y="2176272"/>
        <a:ext cx="10515239" cy="435148"/>
      </dsp:txXfrm>
    </dsp:sp>
    <dsp:sp modelId="{62797C62-3FBF-458E-AE43-F6D35B574AB9}">
      <dsp:nvSpPr>
        <dsp:cNvPr id="0" name=""/>
        <dsp:cNvSpPr/>
      </dsp:nvSpPr>
      <dsp:spPr>
        <a:xfrm>
          <a:off x="0" y="2611420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3B6C3-1086-4ADD-8645-BFF1368D9C9A}">
      <dsp:nvSpPr>
        <dsp:cNvPr id="0" name=""/>
        <dsp:cNvSpPr/>
      </dsp:nvSpPr>
      <dsp:spPr>
        <a:xfrm>
          <a:off x="0" y="2611420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D D D</a:t>
          </a:r>
          <a:endParaRPr lang="en-US" sz="2000" kern="1200"/>
        </a:p>
      </dsp:txBody>
      <dsp:txXfrm>
        <a:off x="0" y="2611420"/>
        <a:ext cx="10515239" cy="435148"/>
      </dsp:txXfrm>
    </dsp:sp>
    <dsp:sp modelId="{EB47C4F9-9208-4DF4-88A3-A6569FABA647}">
      <dsp:nvSpPr>
        <dsp:cNvPr id="0" name=""/>
        <dsp:cNvSpPr/>
      </dsp:nvSpPr>
      <dsp:spPr>
        <a:xfrm>
          <a:off x="0" y="3046568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B517D-964C-4C49-BB34-6976A35EF94F}">
      <dsp:nvSpPr>
        <dsp:cNvPr id="0" name=""/>
        <dsp:cNvSpPr/>
      </dsp:nvSpPr>
      <dsp:spPr>
        <a:xfrm>
          <a:off x="0" y="3046568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D D D D D D D D D</a:t>
          </a:r>
          <a:endParaRPr lang="en-US" sz="2000" kern="1200"/>
        </a:p>
      </dsp:txBody>
      <dsp:txXfrm>
        <a:off x="0" y="3046568"/>
        <a:ext cx="10515239" cy="435148"/>
      </dsp:txXfrm>
    </dsp:sp>
    <dsp:sp modelId="{C4A57E84-BF03-4202-9891-C49ACB4126B9}">
      <dsp:nvSpPr>
        <dsp:cNvPr id="0" name=""/>
        <dsp:cNvSpPr/>
      </dsp:nvSpPr>
      <dsp:spPr>
        <a:xfrm>
          <a:off x="0" y="3481716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4EAB7-8DA4-4ACB-85AA-A25B6A9E67C1}">
      <dsp:nvSpPr>
        <dsp:cNvPr id="0" name=""/>
        <dsp:cNvSpPr/>
      </dsp:nvSpPr>
      <dsp:spPr>
        <a:xfrm>
          <a:off x="0" y="3481716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</a:t>
          </a:r>
          <a:r>
            <a:rPr lang="en-US" sz="2000" b="1" kern="1200"/>
            <a:t>A B B A  A B B A</a:t>
          </a:r>
          <a:r>
            <a:rPr lang="en-US" sz="2000" b="0" kern="1200"/>
            <a:t> D      For </a:t>
          </a:r>
          <a:r>
            <a:rPr lang="en-US" sz="2000" b="1" kern="1200"/>
            <a:t>NMOS</a:t>
          </a:r>
          <a:r>
            <a:rPr lang="en-US" sz="2000" b="0" kern="1200"/>
            <a:t> differential input amplifier</a:t>
          </a:r>
          <a:endParaRPr lang="en-US" sz="2000" kern="1200"/>
        </a:p>
      </dsp:txBody>
      <dsp:txXfrm>
        <a:off x="0" y="3481716"/>
        <a:ext cx="10515239" cy="435148"/>
      </dsp:txXfrm>
    </dsp:sp>
    <dsp:sp modelId="{434B8B0F-B908-40A3-B669-7EF18495625E}">
      <dsp:nvSpPr>
        <dsp:cNvPr id="0" name=""/>
        <dsp:cNvSpPr/>
      </dsp:nvSpPr>
      <dsp:spPr>
        <a:xfrm>
          <a:off x="0" y="3916864"/>
          <a:ext cx="1051523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41C18-54DF-4D19-8AED-160A5BFC4929}">
      <dsp:nvSpPr>
        <dsp:cNvPr id="0" name=""/>
        <dsp:cNvSpPr/>
      </dsp:nvSpPr>
      <dsp:spPr>
        <a:xfrm>
          <a:off x="0" y="3916864"/>
          <a:ext cx="10515239" cy="435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D D D D D D D D D D</a:t>
          </a:r>
          <a:endParaRPr lang="en-US" sz="2000" kern="1200"/>
        </a:p>
      </dsp:txBody>
      <dsp:txXfrm>
        <a:off x="0" y="3916864"/>
        <a:ext cx="10515239" cy="435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Click to move the slide</a:t>
            </a: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4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4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4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F8CE64F7-06F2-4FA8-8FD1-CE11BE5BAC1A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active current mirrors why we need pmos current mirror as it increases the vout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1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2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3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ubTitle"/>
          </p:nvPr>
        </p:nvSpPr>
        <p:spPr>
          <a:xfrm>
            <a:off x="717840" y="258120"/>
            <a:ext cx="10515240" cy="5733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069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838080" y="3951000"/>
            <a:ext cx="1051524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83808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6226200" y="3951000"/>
            <a:ext cx="513108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83808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body"/>
          </p:nvPr>
        </p:nvSpPr>
        <p:spPr>
          <a:xfrm>
            <a:off x="439344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3" name="PlaceHolder 7"/>
          <p:cNvSpPr>
            <a:spLocks noGrp="1"/>
          </p:cNvSpPr>
          <p:nvPr>
            <p:ph type="body"/>
          </p:nvPr>
        </p:nvSpPr>
        <p:spPr>
          <a:xfrm>
            <a:off x="7949160" y="3951000"/>
            <a:ext cx="3385800" cy="194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close up of a computer chip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7294680" y="371520"/>
            <a:ext cx="4043160" cy="4791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 descr="A white rectangular object with blue and red lines&#10;&#10;Description automatically generated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ln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algn="just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Click to edit Master text styles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A48E9"/>
                </a:solidFill>
                <a:latin typeface="Century Gothic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8992440" y="6356520"/>
            <a:ext cx="2742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AD827B5-EAF9-4DF9-91B2-8AE9A8E0F067}" type="slidenum"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‹#›</a:t>
            </a:fld>
            <a:endParaRPr lang="en-US" sz="16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A white rectangular object with blue and red lines&#10;&#10;Description automatically generated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ln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0690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algn="just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Click to edit Master text styles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A48E9"/>
                </a:solidFill>
                <a:latin typeface="Century Gothic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8992440" y="6356520"/>
            <a:ext cx="2742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EC0216A-9A3C-4CE5-A5D8-5DDD9577B9D1}" type="slidenum"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‹#›</a:t>
            </a:fld>
            <a:endParaRPr lang="en-US" sz="16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2" descr="A close-up of a computer screen&#10;&#10;Description automatically generated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ln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48880" y="356400"/>
            <a:ext cx="8571240" cy="1236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8029080" cy="40690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algn="just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Click to edit Master text styles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A48E9"/>
                </a:solidFill>
                <a:latin typeface="Century Gothic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200160" y="6356520"/>
            <a:ext cx="2742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7A4345E3-C7D3-4A1A-B977-18F6C7EF4959}" type="slidenum"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‹#›</a:t>
            </a:fld>
            <a:endParaRPr lang="en-US" sz="16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2" descr="A close up of a circuit board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ln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56400"/>
            <a:ext cx="7242120" cy="1236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7242120" cy="40690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algn="just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Click to edit Master text styles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A48E9"/>
                </a:solidFill>
                <a:latin typeface="Century Gothic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A48E9"/>
                </a:solidFill>
                <a:latin typeface="Century Gothic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A48E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A48E9"/>
                </a:solidFill>
                <a:latin typeface="Century Gothic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200160" y="6356520"/>
            <a:ext cx="2742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ABF8ABF-478D-4A2C-BFC5-8166B96B0EBE}" type="slidenum"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‹#›</a:t>
            </a:fld>
            <a:endParaRPr lang="en-US" sz="16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205" name="Picture 4" descr="A close up of a computer chip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ln>
            <a:noFill/>
          </a:ln>
        </p:spPr>
      </p:pic>
      <p:sp>
        <p:nvSpPr>
          <p:cNvPr id="20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7294680" y="371520"/>
            <a:ext cx="4043160" cy="479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00"/>
                </a:solidFill>
                <a:latin typeface="Century Gothic"/>
              </a:rPr>
              <a:t>Tsmc 65nm</a:t>
            </a:r>
            <a:endParaRPr lang="en-US" sz="2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1370520" y="4471560"/>
            <a:ext cx="9693720" cy="1654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00"/>
                </a:solidFill>
                <a:latin typeface="Century Gothic"/>
              </a:rPr>
              <a:t>Design of two stage Miller compensated OTA</a:t>
            </a:r>
            <a:endParaRPr lang="en-US" sz="31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00"/>
                </a:solidFill>
                <a:latin typeface="Century Gothic"/>
              </a:rPr>
              <a:t>Presenter: M.Aashir Imran</a:t>
            </a:r>
            <a:r>
              <a:rPr lang="en-US" sz="3100" b="1" i="1" strike="noStrike" spc="-1">
                <a:solidFill>
                  <a:srgbClr val="FFFF00"/>
                </a:solidFill>
                <a:latin typeface="Century Gothic"/>
              </a:rPr>
              <a:t> </a:t>
            </a:r>
            <a:endParaRPr lang="en-US" sz="31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31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31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Assigned specifications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3" name="TextShape 2"/>
          <p:cNvSpPr txBox="1"/>
          <p:nvPr/>
        </p:nvSpPr>
        <p:spPr>
          <a:xfrm>
            <a:off x="548640" y="1280160"/>
            <a:ext cx="11190240" cy="4846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graphicFrame>
        <p:nvGraphicFramePr>
          <p:cNvPr id="254" name="Table 3"/>
          <p:cNvGraphicFramePr/>
          <p:nvPr/>
        </p:nvGraphicFramePr>
        <p:xfrm>
          <a:off x="731520" y="1645920"/>
          <a:ext cx="10424160" cy="4304520"/>
        </p:xfrm>
        <a:graphic>
          <a:graphicData uri="http://schemas.openxmlformats.org/drawingml/2006/table">
            <a:tbl>
              <a:tblPr/>
              <a:tblGrid>
                <a:gridCol w="521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88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Parameter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Target Specs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88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Unity Gain Bandwidth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90 MHz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8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Load Capacitance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9.9 pF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71640" marR="71640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88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DC Open-Loop Gain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≥ 75 dB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88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Power Consumption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&lt; 1 mW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88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Supply Voltage / Bias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1.2V / 500nA – 50μA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240"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ICMR / Slew Rate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ptos"/>
                        </a:rPr>
                        <a:t>Maximize / Optimize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Two stage topology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6" name="TextShape 2"/>
          <p:cNvSpPr txBox="1"/>
          <p:nvPr/>
        </p:nvSpPr>
        <p:spPr>
          <a:xfrm>
            <a:off x="548640" y="1280160"/>
            <a:ext cx="11190240" cy="4846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1" strike="noStrike" spc="-1" dirty="0">
              <a:solidFill>
                <a:srgbClr val="4E95D9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4E95D9"/>
                </a:solidFill>
                <a:latin typeface="Aptos"/>
              </a:rPr>
              <a:t>Stage 1 (Differential Transconductance Stage):</a:t>
            </a:r>
            <a:endParaRPr lang="en-US" sz="2800" b="0" strike="noStrike" spc="-1" dirty="0">
              <a:solidFill>
                <a:srgbClr val="000000"/>
              </a:solidFill>
              <a:latin typeface="Aptos"/>
            </a:endParaRPr>
          </a:p>
          <a:p>
            <a:r>
              <a:rPr lang="en-US" sz="2200" b="0" strike="noStrike" spc="-1" dirty="0">
                <a:solidFill>
                  <a:srgbClr val="000000"/>
                </a:solidFill>
                <a:latin typeface="Aptos"/>
              </a:rPr>
              <a:t>Differential NMOS input pair with PMOS active current-mirror load.</a:t>
            </a:r>
          </a:p>
          <a:p>
            <a:r>
              <a:rPr lang="en-US" sz="2200" b="0" strike="noStrike" spc="-1" dirty="0">
                <a:solidFill>
                  <a:srgbClr val="000000"/>
                </a:solidFill>
                <a:latin typeface="Aptos"/>
              </a:rPr>
              <a:t>Converts differential input voltage to a single-ended output current/voltage.</a:t>
            </a:r>
          </a:p>
          <a:p>
            <a:r>
              <a:rPr lang="en-US" sz="2200" b="0" strike="noStrike" spc="-1" dirty="0">
                <a:solidFill>
                  <a:srgbClr val="000000"/>
                </a:solidFill>
                <a:latin typeface="Aptos"/>
              </a:rPr>
              <a:t>Provides high differential voltage gain and improves common-mode rejection (CMRR).</a:t>
            </a:r>
          </a:p>
          <a:p>
            <a:endParaRPr lang="en-US" sz="2200" b="0" strike="noStrike" spc="-1" dirty="0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4E95D9"/>
                </a:solidFill>
                <a:latin typeface="Aptos"/>
              </a:rPr>
              <a:t>Stage 2 (High-Gain Output Stage):</a:t>
            </a:r>
            <a:endParaRPr lang="en-US" sz="2800" b="0" strike="noStrike" spc="-1" dirty="0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ptos"/>
              </a:rPr>
              <a:t>Common-source PMOS driver transistor .</a:t>
            </a: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ptos"/>
              </a:rPr>
              <a:t>Biased by an NMOS current source acting as an active load.</a:t>
            </a: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Shape 1"/>
          <p:cNvSpPr txBox="1"/>
          <p:nvPr/>
        </p:nvSpPr>
        <p:spPr>
          <a:xfrm>
            <a:off x="717840" y="36576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Schematic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7372440" y="6378480"/>
            <a:ext cx="41212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59" name="Picture 258"/>
          <p:cNvPicPr/>
          <p:nvPr/>
        </p:nvPicPr>
        <p:blipFill>
          <a:blip r:embed="rId3"/>
          <a:stretch/>
        </p:blipFill>
        <p:spPr>
          <a:xfrm>
            <a:off x="2011680" y="1188720"/>
            <a:ext cx="8464680" cy="4983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/>
          <p:cNvSpPr txBox="1"/>
          <p:nvPr/>
        </p:nvSpPr>
        <p:spPr>
          <a:xfrm>
            <a:off x="717840" y="36576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Design Specifications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7372440" y="6378480"/>
            <a:ext cx="41212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aphicFrame>
        <p:nvGraphicFramePr>
          <p:cNvPr id="262" name="Table 3"/>
          <p:cNvGraphicFramePr/>
          <p:nvPr>
            <p:extLst>
              <p:ext uri="{D42A27DB-BD31-4B8C-83A1-F6EECF244321}">
                <p14:modId xmlns:p14="http://schemas.microsoft.com/office/powerpoint/2010/main" val="3029682573"/>
              </p:ext>
            </p:extLst>
          </p:nvPr>
        </p:nvGraphicFramePr>
        <p:xfrm>
          <a:off x="492162" y="1728106"/>
          <a:ext cx="11430000" cy="3703320"/>
        </p:xfrm>
        <a:graphic>
          <a:graphicData uri="http://schemas.openxmlformats.org/drawingml/2006/table">
            <a:tbl>
              <a:tblPr/>
              <a:tblGrid>
                <a:gridCol w="190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1400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Component Name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Node Connection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Transistor Type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Width (W)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Length (L)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Multiplier (M)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M1,M2​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Input Differential Pair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NMOS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M3,M4​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Stage 1 Active Load Mirror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PMOS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M5​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Stage 1 Tail Current Sink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NMOS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M6​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Stage 2 Driver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PMOS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M7​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Stage 2 Current Sink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NMOS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10u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DA21E-76BB-4C5C-165F-F06B3A09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>
            <a:extLst>
              <a:ext uri="{FF2B5EF4-FFF2-40B4-BE49-F238E27FC236}">
                <a16:creationId xmlns:a16="http://schemas.microsoft.com/office/drawing/2014/main" id="{824ABFD9-9C9A-74D8-D2EA-E156AC4E5513}"/>
              </a:ext>
            </a:extLst>
          </p:cNvPr>
          <p:cNvSpPr txBox="1"/>
          <p:nvPr/>
        </p:nvSpPr>
        <p:spPr>
          <a:xfrm>
            <a:off x="717840" y="36576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Design Specifications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CustomShape 2">
            <a:extLst>
              <a:ext uri="{FF2B5EF4-FFF2-40B4-BE49-F238E27FC236}">
                <a16:creationId xmlns:a16="http://schemas.microsoft.com/office/drawing/2014/main" id="{A869FDAF-5BB0-9FA0-5565-47B3C614C4EC}"/>
              </a:ext>
            </a:extLst>
          </p:cNvPr>
          <p:cNvSpPr/>
          <p:nvPr/>
        </p:nvSpPr>
        <p:spPr>
          <a:xfrm>
            <a:off x="7372440" y="6378480"/>
            <a:ext cx="41212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3AEA44-4B0B-EC37-42EB-5C859A501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681861"/>
              </p:ext>
            </p:extLst>
          </p:nvPr>
        </p:nvGraphicFramePr>
        <p:xfrm>
          <a:off x="553192" y="1409251"/>
          <a:ext cx="10940528" cy="4475184"/>
        </p:xfrm>
        <a:graphic>
          <a:graphicData uri="http://schemas.openxmlformats.org/drawingml/2006/table">
            <a:tbl>
              <a:tblPr/>
              <a:tblGrid>
                <a:gridCol w="2735003">
                  <a:extLst>
                    <a:ext uri="{9D8B030D-6E8A-4147-A177-3AD203B41FA5}">
                      <a16:colId xmlns:a16="http://schemas.microsoft.com/office/drawing/2014/main" val="3200211331"/>
                    </a:ext>
                  </a:extLst>
                </a:gridCol>
                <a:gridCol w="2735003">
                  <a:extLst>
                    <a:ext uri="{9D8B030D-6E8A-4147-A177-3AD203B41FA5}">
                      <a16:colId xmlns:a16="http://schemas.microsoft.com/office/drawing/2014/main" val="1402506124"/>
                    </a:ext>
                  </a:extLst>
                </a:gridCol>
                <a:gridCol w="2836375">
                  <a:extLst>
                    <a:ext uri="{9D8B030D-6E8A-4147-A177-3AD203B41FA5}">
                      <a16:colId xmlns:a16="http://schemas.microsoft.com/office/drawing/2014/main" val="705992228"/>
                    </a:ext>
                  </a:extLst>
                </a:gridCol>
                <a:gridCol w="2634147">
                  <a:extLst>
                    <a:ext uri="{9D8B030D-6E8A-4147-A177-3AD203B41FA5}">
                      <a16:colId xmlns:a16="http://schemas.microsoft.com/office/drawing/2014/main" val="590795225"/>
                    </a:ext>
                  </a:extLst>
                </a:gridCol>
              </a:tblGrid>
              <a:tr h="1118796"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Cc​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Compensation Capacitor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Passive Cap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6pF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504574"/>
                  </a:ext>
                </a:extLst>
              </a:tr>
              <a:tr h="1118796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Rz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Zero Nulling Resistor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Passive Res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2.3k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713008"/>
                  </a:ext>
                </a:extLst>
              </a:tr>
              <a:tr h="1118796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CL​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External Output Load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Passive Cap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9.9pF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612860"/>
                  </a:ext>
                </a:extLst>
              </a:tr>
              <a:tr h="1118796">
                <a:tc>
                  <a:txBody>
                    <a:bodyPr/>
                    <a:lstStyle/>
                    <a:p>
                      <a:r>
                        <a:rPr lang="en-US" sz="1800" b="0" strike="noStrike" spc="-1" dirty="0" err="1">
                          <a:latin typeface="Arial"/>
                        </a:rPr>
                        <a:t>Iref</a:t>
                      </a:r>
                      <a:r>
                        <a:rPr lang="en-US" sz="1800" b="0" strike="noStrike" spc="-1" dirty="0">
                          <a:latin typeface="Arial"/>
                        </a:rPr>
                        <a:t>​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Primary Bias Source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Current Source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Arial"/>
                        </a:rPr>
                        <a:t>45u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047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66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 txBox="1"/>
          <p:nvPr/>
        </p:nvSpPr>
        <p:spPr>
          <a:xfrm>
            <a:off x="731880" y="36576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Poles Formed and Miller Effect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7372440" y="6378480"/>
            <a:ext cx="41212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5" name="Content Placeholder 4_0"/>
          <p:cNvPicPr/>
          <p:nvPr/>
        </p:nvPicPr>
        <p:blipFill>
          <a:blip r:embed="rId3"/>
          <a:srcRect r="2338"/>
          <a:stretch/>
        </p:blipFill>
        <p:spPr>
          <a:xfrm>
            <a:off x="7132680" y="1280160"/>
            <a:ext cx="5059440" cy="4046040"/>
          </a:xfrm>
          <a:prstGeom prst="rect">
            <a:avLst/>
          </a:prstGeom>
          <a:ln>
            <a:noFill/>
          </a:ln>
        </p:spPr>
      </p:pic>
      <p:sp>
        <p:nvSpPr>
          <p:cNvPr id="266" name="TextShape 3"/>
          <p:cNvSpPr txBox="1"/>
          <p:nvPr/>
        </p:nvSpPr>
        <p:spPr>
          <a:xfrm>
            <a:off x="365760" y="1371600"/>
            <a:ext cx="7406640" cy="515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ptos Display"/>
              </a:rPr>
              <a:t>Benefit of Miller Effect</a:t>
            </a:r>
            <a:endParaRPr lang="en-US" sz="3200" b="1" strike="noStrike" spc="-1">
              <a:latin typeface="Arial"/>
            </a:endParaRPr>
          </a:p>
        </p:txBody>
      </p:sp>
      <p:sp>
        <p:nvSpPr>
          <p:cNvPr id="267" name="CustomShape 4"/>
          <p:cNvSpPr/>
          <p:nvPr/>
        </p:nvSpPr>
        <p:spPr>
          <a:xfrm>
            <a:off x="365760" y="1830600"/>
            <a:ext cx="5083200" cy="420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ptos"/>
              </a:rPr>
              <a:t>1.Pole Splitting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ptos"/>
              </a:rPr>
              <a:t>2. Compact Capacitor Size (Saves Silicon Area)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ptos"/>
              </a:rPr>
              <a:t>3. Controlled &amp; Predictable Gain-Bandwidth Product ()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Aptos"/>
              </a:rPr>
              <a:t>Mechanics</a:t>
            </a: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: Sets primarily as a simple ratio of input transconductance to compensation capacitance ().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GBW can be easily tuned by adjusting Cc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Poles and Transfer function 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7286040" y="6344280"/>
            <a:ext cx="4158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0" name="CustomShape 3"/>
          <p:cNvSpPr/>
          <p:nvPr/>
        </p:nvSpPr>
        <p:spPr>
          <a:xfrm>
            <a:off x="6275880" y="2019240"/>
            <a:ext cx="5168520" cy="46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E5DE7B-D894-C29B-F1DE-165324DC45E9}"/>
                  </a:ext>
                </a:extLst>
              </p:cNvPr>
              <p:cNvSpPr txBox="1"/>
              <p:nvPr/>
            </p:nvSpPr>
            <p:spPr>
              <a:xfrm>
                <a:off x="466344" y="1440178"/>
                <a:ext cx="10195560" cy="4686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in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out1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/>
                                    <m:t>out2</m:t>
                                  </m:r>
                                </m:sub>
                              </m:sSub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out1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out2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/>
                                <m:t>parasitic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E5DE7B-D894-C29B-F1DE-165324DC4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" y="1440178"/>
                <a:ext cx="10195560" cy="46860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9D2E8D3-3E47-B55F-1ADF-261B195FF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48" y="4887468"/>
            <a:ext cx="2832712" cy="10607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Phase margin and Slew Rate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7440840" y="6378480"/>
            <a:ext cx="40528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7" name="TextShape 3"/>
          <p:cNvSpPr txBox="1"/>
          <p:nvPr/>
        </p:nvSpPr>
        <p:spPr>
          <a:xfrm>
            <a:off x="731880" y="1280160"/>
            <a:ext cx="10515240" cy="47073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1" u="sng" strike="noStrike" spc="-1">
                <a:solidFill>
                  <a:srgbClr val="000000"/>
                </a:solidFill>
                <a:uFillTx/>
                <a:latin typeface="Century Gothic"/>
              </a:rPr>
              <a:t>Phase Margin: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latin typeface="Century Gothic"/>
              </a:rPr>
              <a:t>A measure of relative stability in a closed-loop system, evaluated at the unity-gain frequency (UGBW).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latin typeface="Century Gothic"/>
              </a:rPr>
              <a:t>Target=</a:t>
            </a:r>
            <a:r>
              <a:rPr lang="en-US" sz="2400" b="1" strike="noStrike" spc="-1">
                <a:solidFill>
                  <a:srgbClr val="000000"/>
                </a:solidFill>
                <a:latin typeface="Century Gothic"/>
              </a:rPr>
              <a:t>45 degrees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1" u="sng" strike="noStrike" spc="-1">
                <a:solidFill>
                  <a:srgbClr val="000000"/>
                </a:solidFill>
                <a:uFillTx/>
                <a:latin typeface="Century Gothic"/>
              </a:rPr>
              <a:t>Slew Rate: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latin typeface="Century Gothic"/>
              </a:rPr>
              <a:t>The maximum rate of change of output voltage when a large input signal is given.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latin typeface="Century Gothic"/>
              </a:rPr>
              <a:t>Target=</a:t>
            </a:r>
            <a:r>
              <a:rPr lang="en-US" sz="2400" b="1" strike="noStrike" spc="-1">
                <a:solidFill>
                  <a:srgbClr val="000000"/>
                </a:solidFill>
                <a:latin typeface="Century Gothic"/>
              </a:rPr>
              <a:t>20v/u sec</a:t>
            </a: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8" name="CustomShape 4"/>
          <p:cNvSpPr/>
          <p:nvPr/>
        </p:nvSpPr>
        <p:spPr>
          <a:xfrm>
            <a:off x="1014840" y="5727600"/>
            <a:ext cx="4142520" cy="36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9" name="CustomShape 5"/>
          <p:cNvSpPr/>
          <p:nvPr/>
        </p:nvSpPr>
        <p:spPr>
          <a:xfrm>
            <a:off x="1281240" y="5486400"/>
            <a:ext cx="5851080" cy="40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Input Common Mode Range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1" name="CustomShape 2"/>
          <p:cNvSpPr/>
          <p:nvPr/>
        </p:nvSpPr>
        <p:spPr>
          <a:xfrm>
            <a:off x="7286040" y="6344280"/>
            <a:ext cx="4158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2" name="CustomShape 3"/>
          <p:cNvSpPr/>
          <p:nvPr/>
        </p:nvSpPr>
        <p:spPr>
          <a:xfrm>
            <a:off x="424800" y="1309320"/>
            <a:ext cx="1072620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marL="1257480" lvl="2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83" name="CustomShape 4"/>
          <p:cNvSpPr/>
          <p:nvPr/>
        </p:nvSpPr>
        <p:spPr>
          <a:xfrm>
            <a:off x="6275880" y="2019240"/>
            <a:ext cx="5168520" cy="46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4" name="CustomShape 5"/>
          <p:cNvSpPr/>
          <p:nvPr/>
        </p:nvSpPr>
        <p:spPr>
          <a:xfrm>
            <a:off x="6170400" y="4323240"/>
            <a:ext cx="5414400" cy="44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600" b="1" i="1" strike="noStrike" spc="-1" baseline="-25000">
                <a:solidFill>
                  <a:srgbClr val="000000"/>
                </a:solidFill>
                <a:latin typeface="Century Gothic"/>
              </a:rPr>
              <a:t>  </a:t>
            </a:r>
            <a:r>
              <a:rPr lang="en-US" sz="1800" b="1" i="1" strike="noStrike" spc="-1" baseline="-25000">
                <a:solidFill>
                  <a:srgbClr val="000000"/>
                </a:solidFill>
                <a:latin typeface="Century Gothic"/>
              </a:rPr>
              <a:t>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85" name="Picture 284"/>
          <p:cNvPicPr/>
          <p:nvPr/>
        </p:nvPicPr>
        <p:blipFill>
          <a:blip r:embed="rId3"/>
          <a:stretch/>
        </p:blipFill>
        <p:spPr>
          <a:xfrm>
            <a:off x="7042320" y="2572795"/>
            <a:ext cx="4190760" cy="657000"/>
          </a:xfrm>
          <a:prstGeom prst="rect">
            <a:avLst/>
          </a:prstGeom>
          <a:ln>
            <a:noFill/>
          </a:ln>
        </p:spPr>
      </p:pic>
      <p:sp>
        <p:nvSpPr>
          <p:cNvPr id="286" name="TextShape 6"/>
          <p:cNvSpPr txBox="1"/>
          <p:nvPr/>
        </p:nvSpPr>
        <p:spPr>
          <a:xfrm>
            <a:off x="7042085" y="2365560"/>
            <a:ext cx="8778240" cy="160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 dirty="0">
              <a:latin typeface="Arial"/>
            </a:endParaRPr>
          </a:p>
          <a:p>
            <a:endParaRPr lang="en-US" sz="1800" b="0" strike="noStrike" spc="-1" dirty="0">
              <a:latin typeface="Arial"/>
            </a:endParaRPr>
          </a:p>
          <a:p>
            <a:endParaRPr lang="en-US" sz="1800" b="0" strike="noStrike" spc="-1" dirty="0">
              <a:latin typeface="Arial"/>
            </a:endParaRPr>
          </a:p>
          <a:p>
            <a:endParaRPr lang="en-US" sz="1800" b="0" strike="noStrike" spc="-1" dirty="0">
              <a:latin typeface="Arial"/>
            </a:endParaRPr>
          </a:p>
          <a:p>
            <a:endParaRPr lang="en-US" sz="1800" b="0" strike="noStrike" spc="-1" dirty="0">
              <a:latin typeface="Arial"/>
            </a:endParaRPr>
          </a:p>
          <a:p>
            <a:endParaRPr lang="en-US" sz="1800" b="0" strike="noStrike" spc="-1" dirty="0">
              <a:latin typeface="Arial"/>
            </a:endParaRPr>
          </a:p>
          <a:p>
            <a:r>
              <a:rPr lang="en-US" sz="1800" b="0" strike="noStrike" spc="-1" dirty="0" err="1">
                <a:latin typeface="Arial"/>
              </a:rPr>
              <a:t>Vicm,max</a:t>
            </a:r>
            <a:r>
              <a:rPr lang="en-US" sz="1800" b="0" strike="noStrike" spc="-1" dirty="0">
                <a:latin typeface="Arial"/>
              </a:rPr>
              <a:t>=  1.117 V          </a:t>
            </a:r>
            <a:r>
              <a:rPr lang="en-US" sz="1800" b="0" strike="noStrike" spc="-1" dirty="0" err="1">
                <a:latin typeface="Arial"/>
              </a:rPr>
              <a:t>Vicm,min</a:t>
            </a:r>
            <a:r>
              <a:rPr lang="en-US" sz="1800" b="0" strike="noStrike" spc="-1" dirty="0">
                <a:latin typeface="Arial"/>
              </a:rPr>
              <a:t> = 0.6242    </a:t>
            </a:r>
          </a:p>
          <a:p>
            <a:r>
              <a:rPr lang="en-US" sz="1800" b="0" strike="noStrike" spc="-1" dirty="0">
                <a:latin typeface="Arial"/>
              </a:rPr>
              <a:t>                                            </a:t>
            </a:r>
          </a:p>
        </p:txBody>
      </p:sp>
      <p:pic>
        <p:nvPicPr>
          <p:cNvPr id="287" name="Picture 286"/>
          <p:cNvPicPr/>
          <p:nvPr/>
        </p:nvPicPr>
        <p:blipFill>
          <a:blip r:embed="rId4"/>
          <a:stretch/>
        </p:blipFill>
        <p:spPr>
          <a:xfrm>
            <a:off x="7135732" y="1453389"/>
            <a:ext cx="3904920" cy="552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9978E4-9344-59D8-BB96-517EF28F9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95" y="1309320"/>
            <a:ext cx="6270224" cy="3627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pc="-1" dirty="0">
                <a:solidFill>
                  <a:srgbClr val="0A48E9"/>
                </a:solidFill>
                <a:latin typeface="Century Gothic"/>
              </a:rPr>
              <a:t>Open loop</a:t>
            </a:r>
            <a:r>
              <a:rPr lang="en-US" sz="4000" b="1" strike="noStrike" spc="-1" dirty="0">
                <a:solidFill>
                  <a:srgbClr val="0A48E9"/>
                </a:solidFill>
                <a:latin typeface="Century Gothic"/>
              </a:rPr>
              <a:t> gain and UGBW  </a:t>
            </a:r>
            <a:endParaRPr lang="en-US" sz="40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7521480" y="6378480"/>
            <a:ext cx="39722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0" name="CustomShape 3"/>
          <p:cNvSpPr/>
          <p:nvPr/>
        </p:nvSpPr>
        <p:spPr>
          <a:xfrm>
            <a:off x="3678480" y="5805000"/>
            <a:ext cx="614772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91" name="Picture 4_0"/>
          <p:cNvPicPr/>
          <p:nvPr/>
        </p:nvPicPr>
        <p:blipFill>
          <a:blip r:embed="rId3"/>
          <a:srcRect l="6618"/>
          <a:stretch>
            <a:fillRect/>
          </a:stretch>
        </p:blipFill>
        <p:spPr>
          <a:xfrm>
            <a:off x="2366682" y="1288430"/>
            <a:ext cx="6352390" cy="2964239"/>
          </a:xfrm>
          <a:prstGeom prst="rect">
            <a:avLst/>
          </a:prstGeom>
          <a:ln>
            <a:noFill/>
          </a:ln>
        </p:spPr>
      </p:pic>
      <p:pic>
        <p:nvPicPr>
          <p:cNvPr id="3" name="Content Placeholder 4_1">
            <a:extLst>
              <a:ext uri="{FF2B5EF4-FFF2-40B4-BE49-F238E27FC236}">
                <a16:creationId xmlns:a16="http://schemas.microsoft.com/office/drawing/2014/main" id="{8B0F2C20-5EF3-80D0-A297-7B8963B5529A}"/>
              </a:ext>
            </a:extLst>
          </p:cNvPr>
          <p:cNvPicPr/>
          <p:nvPr/>
        </p:nvPicPr>
        <p:blipFill>
          <a:blip r:embed="rId4"/>
          <a:srcRect l="14379" t="49417"/>
          <a:stretch>
            <a:fillRect/>
          </a:stretch>
        </p:blipFill>
        <p:spPr>
          <a:xfrm>
            <a:off x="2076225" y="4252669"/>
            <a:ext cx="7191487" cy="181027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Phasemargin And UGBW(achieved)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2108520" y="4377600"/>
            <a:ext cx="456660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94" name="Content Placeholder 4_1"/>
          <p:cNvPicPr/>
          <p:nvPr/>
        </p:nvPicPr>
        <p:blipFill>
          <a:blip r:embed="rId3"/>
          <a:srcRect l="14379"/>
          <a:stretch/>
        </p:blipFill>
        <p:spPr>
          <a:xfrm>
            <a:off x="1535760" y="1371600"/>
            <a:ext cx="8614080" cy="4451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CMRR 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7383960" y="6378480"/>
            <a:ext cx="4110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7" name="CustomShape 3"/>
          <p:cNvSpPr/>
          <p:nvPr/>
        </p:nvSpPr>
        <p:spPr>
          <a:xfrm>
            <a:off x="840600" y="1309320"/>
            <a:ext cx="10392120" cy="7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98" name="CustomShape 4"/>
          <p:cNvSpPr/>
          <p:nvPr/>
        </p:nvSpPr>
        <p:spPr>
          <a:xfrm>
            <a:off x="1344960" y="5770080"/>
            <a:ext cx="65293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99" name="Picture 298"/>
          <p:cNvPicPr/>
          <p:nvPr/>
        </p:nvPicPr>
        <p:blipFill>
          <a:blip r:embed="rId3"/>
          <a:srcRect l="539791"/>
          <a:stretch/>
        </p:blipFill>
        <p:spPr>
          <a:xfrm>
            <a:off x="1726200" y="1303920"/>
            <a:ext cx="8789400" cy="491400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C47E22-C34E-D59D-92E4-4EB79A0F4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0"/>
          <a:stretch>
            <a:fillRect/>
          </a:stretch>
        </p:blipFill>
        <p:spPr>
          <a:xfrm>
            <a:off x="1676400" y="1381591"/>
            <a:ext cx="8479536" cy="4758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A48E9"/>
                </a:solidFill>
                <a:latin typeface="Century Gothic"/>
              </a:rPr>
              <a:t>Target Vs Results </a:t>
            </a:r>
            <a:endParaRPr lang="en-US" sz="40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6588000" y="5736600"/>
            <a:ext cx="456660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2" name="CustomShape 3"/>
          <p:cNvSpPr/>
          <p:nvPr/>
        </p:nvSpPr>
        <p:spPr>
          <a:xfrm>
            <a:off x="717480" y="2022480"/>
            <a:ext cx="6512760" cy="416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303" name="CustomShape 4"/>
          <p:cNvSpPr/>
          <p:nvPr/>
        </p:nvSpPr>
        <p:spPr>
          <a:xfrm>
            <a:off x="848160" y="1414080"/>
            <a:ext cx="9999720" cy="82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aphicFrame>
        <p:nvGraphicFramePr>
          <p:cNvPr id="304" name="Table 5"/>
          <p:cNvGraphicFramePr/>
          <p:nvPr/>
        </p:nvGraphicFramePr>
        <p:xfrm>
          <a:off x="914400" y="1680120"/>
          <a:ext cx="10241280" cy="4319640"/>
        </p:xfrm>
        <a:graphic>
          <a:graphicData uri="http://schemas.openxmlformats.org/drawingml/2006/table">
            <a:tbl>
              <a:tblPr/>
              <a:tblGrid>
                <a:gridCol w="34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640">
                <a:tc>
                  <a:txBody>
                    <a:bodyPr/>
                    <a:lstStyle/>
                    <a:p>
                      <a:r>
                        <a:rPr lang="en-US" sz="1800" b="1" strike="noStrike" spc="-1">
                          <a:latin typeface="Arial"/>
                        </a:rPr>
                        <a:t>Parameter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strike="noStrike" spc="-1">
                          <a:latin typeface="Arial"/>
                        </a:rPr>
                        <a:t>Target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strike="noStrike" spc="-1">
                          <a:latin typeface="Arial"/>
                        </a:rPr>
                        <a:t>Achieved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Open-Loop DC Gain (Av​)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&gt;75.0 dB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64.0 dB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Unity-Gain Bandwidth (UGBW)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90.0 MHz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51.79 MHz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Phase Margin (PM)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&gt;45.0 degrees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53.74 degrees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Slew Rate (SR)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20v/u sec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29.0 V/u sec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44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Total Power Consumption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&lt;1.0 mW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0.47 mW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Tradeoffs 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7372440" y="6378480"/>
            <a:ext cx="41212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7" name="CustomShape 3"/>
          <p:cNvSpPr/>
          <p:nvPr/>
        </p:nvSpPr>
        <p:spPr>
          <a:xfrm>
            <a:off x="1195200" y="5015880"/>
            <a:ext cx="490176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TextShape 4"/>
          <p:cNvSpPr txBox="1"/>
          <p:nvPr/>
        </p:nvSpPr>
        <p:spPr>
          <a:xfrm>
            <a:off x="640080" y="1401840"/>
            <a:ext cx="11460600" cy="38102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600" b="1" strike="noStrike" spc="-1">
                <a:latin typeface="Arial"/>
              </a:rPr>
              <a:t>1. Gain-Bandwidth (GBW) vs. Stability (PM)</a:t>
            </a:r>
            <a:endParaRPr lang="en-US" sz="2600" b="0" strike="noStrike" spc="-1">
              <a:latin typeface="Arial"/>
            </a:endParaRPr>
          </a:p>
          <a:p>
            <a:r>
              <a:rPr lang="en-US" sz="2600" b="0" strike="noStrike" spc="-1">
                <a:latin typeface="Arial"/>
              </a:rPr>
              <a:t>Higher Bandwidth (UGBW) → Needs smaller Cc</a:t>
            </a:r>
          </a:p>
          <a:p>
            <a:r>
              <a:rPr lang="en-US" sz="2600" b="0" strike="noStrike" spc="-1">
                <a:latin typeface="Arial"/>
              </a:rPr>
              <a:t>Higher Stability (PM) → Needs larger Cc​ (enhances pole splitting)</a:t>
            </a:r>
          </a:p>
          <a:p>
            <a:endParaRPr lang="en-US" sz="2600" b="0" strike="noStrike" spc="-1">
              <a:latin typeface="Arial"/>
            </a:endParaRPr>
          </a:p>
          <a:p>
            <a:r>
              <a:rPr lang="en-US" sz="2600" b="1" strike="noStrike" spc="-1">
                <a:latin typeface="Arial"/>
              </a:rPr>
              <a:t>2.Slew rate VS Phase margin</a:t>
            </a:r>
            <a:endParaRPr lang="en-US" sz="2600" b="0" strike="noStrike" spc="-1">
              <a:latin typeface="Arial"/>
            </a:endParaRPr>
          </a:p>
          <a:p>
            <a:r>
              <a:rPr lang="en-US" sz="2600" b="0" strike="noStrike" spc="-1">
                <a:latin typeface="Arial"/>
              </a:rPr>
              <a:t>For high slew rate – less Cc</a:t>
            </a:r>
          </a:p>
          <a:p>
            <a:r>
              <a:rPr lang="en-US" sz="2600" b="0" strike="noStrike" spc="-1">
                <a:latin typeface="Arial"/>
              </a:rPr>
              <a:t>For higher phase margin – more cc</a:t>
            </a:r>
          </a:p>
          <a:p>
            <a:endParaRPr lang="en-US" sz="2600" b="0" strike="noStrike" spc="-1">
              <a:latin typeface="Arial"/>
            </a:endParaRPr>
          </a:p>
          <a:p>
            <a:r>
              <a:rPr lang="en-US" sz="2600" b="1" strike="noStrike" spc="-1">
                <a:latin typeface="Arial"/>
              </a:rPr>
              <a:t>3.Gain VS Bandwidth</a:t>
            </a:r>
            <a:endParaRPr lang="en-US" sz="2600" b="0" strike="noStrike" spc="-1">
              <a:latin typeface="Arial"/>
            </a:endParaRPr>
          </a:p>
          <a:p>
            <a:r>
              <a:rPr lang="en-US" sz="2600" b="0" strike="noStrike" spc="-1">
                <a:latin typeface="Arial"/>
              </a:rPr>
              <a:t>Bandwidth=(UGBW / Gain)</a:t>
            </a:r>
          </a:p>
          <a:p>
            <a:endParaRPr lang="en-US" sz="2600" b="0" strike="noStrike" spc="-1">
              <a:latin typeface="Arial"/>
            </a:endParaRPr>
          </a:p>
        </p:txBody>
      </p:sp>
      <p:pic>
        <p:nvPicPr>
          <p:cNvPr id="309" name="Picture 308"/>
          <p:cNvPicPr/>
          <p:nvPr/>
        </p:nvPicPr>
        <p:blipFill>
          <a:blip r:embed="rId3"/>
          <a:stretch/>
        </p:blipFill>
        <p:spPr>
          <a:xfrm>
            <a:off x="8229600" y="1737360"/>
            <a:ext cx="2077920" cy="500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Shape 1"/>
          <p:cNvSpPr txBox="1"/>
          <p:nvPr/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b="1" strike="noStrike" kern="1200" spc="-1">
                <a:solidFill>
                  <a:srgbClr val="000000"/>
                </a:solidFill>
              </a:rPr>
              <a:t>Layout Learnings   </a:t>
            </a:r>
            <a:endParaRPr lang="en-US" b="0" strike="noStrike" kern="1200" spc="-1">
              <a:solidFill>
                <a:srgbClr val="000000"/>
              </a:solidFill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7214760" y="6344280"/>
            <a:ext cx="41684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aphicFrame>
        <p:nvGraphicFramePr>
          <p:cNvPr id="314" name="TextShape 3">
            <a:extLst>
              <a:ext uri="{FF2B5EF4-FFF2-40B4-BE49-F238E27FC236}">
                <a16:creationId xmlns:a16="http://schemas.microsoft.com/office/drawing/2014/main" id="{B976D5FA-E75E-A88A-B258-2B8F3FD89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232276"/>
              </p:ext>
            </p:extLst>
          </p:nvPr>
        </p:nvGraphicFramePr>
        <p:xfrm>
          <a:off x="717840" y="1685220"/>
          <a:ext cx="1051524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9A7DE-88F3-345F-68C5-E56D7633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>
            <a:extLst>
              <a:ext uri="{FF2B5EF4-FFF2-40B4-BE49-F238E27FC236}">
                <a16:creationId xmlns:a16="http://schemas.microsoft.com/office/drawing/2014/main" id="{4200E239-8989-A135-3353-7EABD04B9934}"/>
              </a:ext>
            </a:extLst>
          </p:cNvPr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>
                <a:solidFill>
                  <a:srgbClr val="0A48E9"/>
                </a:solidFill>
                <a:latin typeface="Century Gothic"/>
              </a:rPr>
              <a:t>Layout  </a:t>
            </a:r>
            <a:endParaRPr lang="en-US" sz="4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7" name="CustomShape 2">
            <a:extLst>
              <a:ext uri="{FF2B5EF4-FFF2-40B4-BE49-F238E27FC236}">
                <a16:creationId xmlns:a16="http://schemas.microsoft.com/office/drawing/2014/main" id="{E4ED2957-55CF-A206-8BC4-884E29F80425}"/>
              </a:ext>
            </a:extLst>
          </p:cNvPr>
          <p:cNvSpPr/>
          <p:nvPr/>
        </p:nvSpPr>
        <p:spPr>
          <a:xfrm>
            <a:off x="424800" y="1309320"/>
            <a:ext cx="107262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2B641D11-606A-B6C4-4F06-6CE039D0243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737360" y="1463040"/>
            <a:ext cx="8289720" cy="442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042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717840" y="258120"/>
            <a:ext cx="10515240" cy="1236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strike="noStrike" kern="1200" spc="-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Layout Learnings   </a:t>
            </a:r>
            <a:endParaRPr lang="en-US" sz="4000" b="0" strike="noStrike" kern="1200" spc="-1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15" name="TextShape 3"/>
          <p:cNvSpPr txBox="1"/>
          <p:nvPr/>
        </p:nvSpPr>
        <p:spPr>
          <a:xfrm>
            <a:off x="717840" y="1685220"/>
            <a:ext cx="5067120" cy="5023020"/>
          </a:xfrm>
          <a:prstGeom prst="rect">
            <a:avLst/>
          </a:prstGeom>
        </p:spPr>
        <p:txBody>
          <a:bodyPr lIns="90000" tIns="45000" rIns="90000" bIns="45000" anchor="t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Basics:</a:t>
            </a:r>
            <a:endParaRPr lang="en-US" sz="21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Vertical Connections</a:t>
            </a:r>
            <a:endParaRPr lang="en-US" sz="21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Horizontal Connections:</a:t>
            </a:r>
            <a:endParaRPr lang="en-US" sz="21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Vias/Contacts</a:t>
            </a:r>
            <a:endParaRPr lang="en-US" sz="21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Horizontal spacing</a:t>
            </a:r>
            <a:endParaRPr lang="en-US" sz="21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Vertical spacing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kern="1200" spc="-1" dirty="0">
                <a:solidFill>
                  <a:srgbClr val="000000"/>
                </a:solidFill>
              </a:rPr>
              <a:t>Guard rings: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kern="1200" dirty="0">
                <a:solidFill>
                  <a:srgbClr val="000000"/>
                </a:solidFill>
              </a:rPr>
              <a:t>A continuous ring of metal and substrate contacts surrounding a set of transistors to shield sensitive circuit nodes from substrate noise</a:t>
            </a:r>
            <a:endParaRPr lang="en-US" sz="2100" b="1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Tests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kern="1200" spc="-1" dirty="0">
                <a:solidFill>
                  <a:srgbClr val="000000"/>
                </a:solidFill>
              </a:rPr>
              <a:t>DRC (Design Rule Check)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100" b="1" strike="noStrike" kern="1200" spc="-1" dirty="0">
                <a:solidFill>
                  <a:srgbClr val="000000"/>
                </a:solidFill>
              </a:rPr>
              <a:t>LVS </a:t>
            </a:r>
            <a:br>
              <a:rPr lang="en-US" sz="2100" b="1" strike="noStrike" kern="1200" spc="-1" dirty="0">
                <a:solidFill>
                  <a:srgbClr val="000000"/>
                </a:solidFill>
              </a:rPr>
            </a:br>
            <a:r>
              <a:rPr lang="en-US" sz="2100" b="1" strike="noStrike" kern="1200" spc="-1" dirty="0" err="1">
                <a:solidFill>
                  <a:srgbClr val="000000"/>
                </a:solidFill>
              </a:rPr>
              <a:t>LVS</a:t>
            </a:r>
            <a:r>
              <a:rPr lang="en-US" sz="2100" b="1" strike="noStrike" kern="1200" spc="-1" dirty="0">
                <a:solidFill>
                  <a:srgbClr val="000000"/>
                </a:solidFill>
              </a:rPr>
              <a:t> </a:t>
            </a:r>
            <a:r>
              <a:rPr lang="en-US" sz="2100" b="1" strike="noStrike" kern="1200" spc="-1" dirty="0" err="1">
                <a:solidFill>
                  <a:srgbClr val="000000"/>
                </a:solidFill>
              </a:rPr>
              <a:t>Quantus</a:t>
            </a:r>
            <a:endParaRPr lang="en-US" sz="2100" b="1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3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1" strike="noStrike" kern="1200" spc="-1" dirty="0">
                <a:solidFill>
                  <a:srgbClr val="000000"/>
                </a:solidFill>
              </a:rPr>
              <a:t> </a:t>
            </a:r>
            <a:endParaRPr lang="en-US" sz="13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3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300" b="0" strike="noStrike" kern="1200" spc="-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300" b="0" strike="noStrike" kern="1200" spc="-1" dirty="0">
              <a:solidFill>
                <a:srgbClr val="000000"/>
              </a:solidFill>
            </a:endParaRPr>
          </a:p>
        </p:txBody>
      </p:sp>
      <p:pic>
        <p:nvPicPr>
          <p:cNvPr id="3" name="Picture 2" descr="Mahara-Tech: All courses | Mahara-Tech">
            <a:extLst>
              <a:ext uri="{FF2B5EF4-FFF2-40B4-BE49-F238E27FC236}">
                <a16:creationId xmlns:a16="http://schemas.microsoft.com/office/drawing/2014/main" id="{9A23A58D-088B-6CE8-08B5-ED5BD837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51" b="1"/>
          <a:stretch>
            <a:fillRect/>
          </a:stretch>
        </p:blipFill>
        <p:spPr>
          <a:xfrm>
            <a:off x="6165960" y="1685220"/>
            <a:ext cx="5067120" cy="4352544"/>
          </a:xfrm>
          <a:prstGeom prst="rect">
            <a:avLst/>
          </a:prstGeom>
          <a:noFill/>
        </p:spPr>
      </p:pic>
      <p:sp>
        <p:nvSpPr>
          <p:cNvPr id="314" name="CustomShape 2"/>
          <p:cNvSpPr/>
          <p:nvPr/>
        </p:nvSpPr>
        <p:spPr>
          <a:xfrm>
            <a:off x="7214760" y="6344280"/>
            <a:ext cx="41684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A48E9"/>
                </a:solidFill>
                <a:latin typeface="Century Gothic"/>
              </a:rPr>
              <a:t>Layout </a:t>
            </a:r>
            <a:r>
              <a:rPr lang="en-US" sz="4000" b="1" spc="-1" dirty="0">
                <a:solidFill>
                  <a:srgbClr val="0A48E9"/>
                </a:solidFill>
                <a:latin typeface="Century Gothic"/>
              </a:rPr>
              <a:t>Flow</a:t>
            </a:r>
            <a:r>
              <a:rPr lang="en-US" sz="4000" b="1" strike="noStrike" spc="-1" dirty="0">
                <a:solidFill>
                  <a:srgbClr val="0A48E9"/>
                </a:solidFill>
                <a:latin typeface="Century Gothic"/>
              </a:rPr>
              <a:t> </a:t>
            </a:r>
            <a:endParaRPr lang="en-US" sz="40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0" name="CustomShape 2"/>
          <p:cNvSpPr/>
          <p:nvPr/>
        </p:nvSpPr>
        <p:spPr>
          <a:xfrm>
            <a:off x="7214760" y="6344280"/>
            <a:ext cx="41684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BFABC-11DD-26D3-1FD4-5BB4465F4B9F}"/>
              </a:ext>
            </a:extLst>
          </p:cNvPr>
          <p:cNvSpPr txBox="1"/>
          <p:nvPr/>
        </p:nvSpPr>
        <p:spPr>
          <a:xfrm>
            <a:off x="632496" y="3105834"/>
            <a:ext cx="166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Alignment of transistor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5963D-57B4-9606-101F-1F2E52D07A70}"/>
              </a:ext>
            </a:extLst>
          </p:cNvPr>
          <p:cNvSpPr txBox="1"/>
          <p:nvPr/>
        </p:nvSpPr>
        <p:spPr>
          <a:xfrm>
            <a:off x="2780154" y="3202925"/>
            <a:ext cx="1007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Connections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806CC-5909-060D-ECBF-97DC579F693F}"/>
              </a:ext>
            </a:extLst>
          </p:cNvPr>
          <p:cNvSpPr txBox="1"/>
          <p:nvPr/>
        </p:nvSpPr>
        <p:spPr>
          <a:xfrm>
            <a:off x="5155728" y="3105833"/>
            <a:ext cx="2332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DRC , LVS , LVS </a:t>
            </a:r>
            <a:r>
              <a:rPr lang="en-US" sz="2000" b="1" dirty="0" err="1"/>
              <a:t>Quantus</a:t>
            </a:r>
            <a:r>
              <a:rPr lang="en-US" sz="2000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D33E7-0099-9C0B-53F6-601E71C233A4}"/>
              </a:ext>
            </a:extLst>
          </p:cNvPr>
          <p:cNvSpPr txBox="1"/>
          <p:nvPr/>
        </p:nvSpPr>
        <p:spPr>
          <a:xfrm>
            <a:off x="8282976" y="3105834"/>
            <a:ext cx="1007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Post layout simulations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3B1D8F-C31C-34EC-A31D-25EA6FBE3B8D}"/>
              </a:ext>
            </a:extLst>
          </p:cNvPr>
          <p:cNvCxnSpPr/>
          <p:nvPr/>
        </p:nvCxnSpPr>
        <p:spPr>
          <a:xfrm>
            <a:off x="2082800" y="3475166"/>
            <a:ext cx="497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22B192-6E3D-5053-2AEF-FE65EC9E9363}"/>
              </a:ext>
            </a:extLst>
          </p:cNvPr>
          <p:cNvCxnSpPr/>
          <p:nvPr/>
        </p:nvCxnSpPr>
        <p:spPr>
          <a:xfrm>
            <a:off x="4418564" y="3389633"/>
            <a:ext cx="497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C3CF1C-1B28-A209-146C-B6CEDF0FCE2B}"/>
              </a:ext>
            </a:extLst>
          </p:cNvPr>
          <p:cNvCxnSpPr/>
          <p:nvPr/>
        </p:nvCxnSpPr>
        <p:spPr>
          <a:xfrm>
            <a:off x="7487920" y="3387591"/>
            <a:ext cx="497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pc="-1" dirty="0">
                <a:solidFill>
                  <a:srgbClr val="0A48E9"/>
                </a:solidFill>
                <a:latin typeface="Century Gothic"/>
              </a:rPr>
              <a:t>Post layout simulation setup</a:t>
            </a:r>
            <a:endParaRPr lang="en-US" sz="40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7" name="CustomShape 2"/>
          <p:cNvSpPr/>
          <p:nvPr/>
        </p:nvSpPr>
        <p:spPr>
          <a:xfrm>
            <a:off x="424800" y="1309320"/>
            <a:ext cx="107262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E24F3-9EDE-C077-B02D-283AE0287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93"/>
          <a:stretch>
            <a:fillRect/>
          </a:stretch>
        </p:blipFill>
        <p:spPr>
          <a:xfrm>
            <a:off x="2530415" y="1704600"/>
            <a:ext cx="6653341" cy="3844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A2057-A5E5-6023-0849-A2794E1C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>
            <a:extLst>
              <a:ext uri="{FF2B5EF4-FFF2-40B4-BE49-F238E27FC236}">
                <a16:creationId xmlns:a16="http://schemas.microsoft.com/office/drawing/2014/main" id="{736C1078-4490-DC7B-3390-997889006609}"/>
              </a:ext>
            </a:extLst>
          </p:cNvPr>
          <p:cNvSpPr txBox="1"/>
          <p:nvPr/>
        </p:nvSpPr>
        <p:spPr>
          <a:xfrm>
            <a:off x="717840" y="553680"/>
            <a:ext cx="10515240" cy="644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spc="-1" dirty="0">
                <a:solidFill>
                  <a:srgbClr val="0A48E9"/>
                </a:solidFill>
                <a:latin typeface="Century Gothic"/>
              </a:rPr>
              <a:t>Post layout simulation results</a:t>
            </a:r>
            <a:endParaRPr lang="en-US" sz="40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7" name="CustomShape 2">
            <a:extLst>
              <a:ext uri="{FF2B5EF4-FFF2-40B4-BE49-F238E27FC236}">
                <a16:creationId xmlns:a16="http://schemas.microsoft.com/office/drawing/2014/main" id="{EEEC10E0-8049-EB88-8B77-F303DD6F5439}"/>
              </a:ext>
            </a:extLst>
          </p:cNvPr>
          <p:cNvSpPr/>
          <p:nvPr/>
        </p:nvSpPr>
        <p:spPr>
          <a:xfrm>
            <a:off x="424800" y="1309320"/>
            <a:ext cx="107262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5592F9-DCA1-6EE6-C7B6-DF6CCB5A6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0"/>
          <a:stretch>
            <a:fillRect/>
          </a:stretch>
        </p:blipFill>
        <p:spPr>
          <a:xfrm>
            <a:off x="424800" y="1382472"/>
            <a:ext cx="8919648" cy="47796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6FD54E-C534-4865-35D3-BC9F83745EB2}"/>
              </a:ext>
            </a:extLst>
          </p:cNvPr>
          <p:cNvSpPr txBox="1"/>
          <p:nvPr/>
        </p:nvSpPr>
        <p:spPr>
          <a:xfrm>
            <a:off x="9674352" y="1618488"/>
            <a:ext cx="1476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Schematic </a:t>
            </a:r>
            <a:r>
              <a:rPr lang="en-US" dirty="0"/>
              <a:t>gain=31.2dB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4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</TotalTime>
  <Words>690</Words>
  <Application>Microsoft Office PowerPoint</Application>
  <PresentationFormat>Widescreen</PresentationFormat>
  <Paragraphs>203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Century Gothic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Hammad M. Cheema</dc:creator>
  <dc:description/>
  <cp:lastModifiedBy>Aashir Imran</cp:lastModifiedBy>
  <cp:revision>145</cp:revision>
  <dcterms:created xsi:type="dcterms:W3CDTF">2024-06-24T08:38:00Z</dcterms:created>
  <dcterms:modified xsi:type="dcterms:W3CDTF">2026-09-03T18:23:59Z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ntentTypeId">
    <vt:lpwstr>0x010100D00DBB9D267C64468650971CDA1EC801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ICV">
    <vt:lpwstr>C6E80269D5904909BE4834BA5064DB80_11</vt:lpwstr>
  </property>
  <property fmtid="{D5CDD505-2E9C-101B-9397-08002B2CF9AE}" pid="7" name="KSOProductBuildVer">
    <vt:lpwstr>1033-12.2.0.17545</vt:lpwstr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Widescreen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49</vt:i4>
  </property>
</Properties>
</file>